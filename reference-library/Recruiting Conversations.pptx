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78" r:id="rId6"/>
    <p:sldMasterId id="2147483680" r:id="rId7"/>
  </p:sldMasterIdLst>
  <p:notesMasterIdLst>
    <p:notesMasterId r:id="rId30"/>
  </p:notesMasterIdLst>
  <p:sldIdLst>
    <p:sldId id="270" r:id="rId8"/>
    <p:sldId id="320" r:id="rId9"/>
    <p:sldId id="343" r:id="rId10"/>
    <p:sldId id="346" r:id="rId11"/>
    <p:sldId id="345" r:id="rId12"/>
    <p:sldId id="274" r:id="rId13"/>
    <p:sldId id="285" r:id="rId14"/>
    <p:sldId id="283" r:id="rId15"/>
    <p:sldId id="284" r:id="rId16"/>
    <p:sldId id="286" r:id="rId17"/>
    <p:sldId id="291" r:id="rId18"/>
    <p:sldId id="302" r:id="rId19"/>
    <p:sldId id="303" r:id="rId20"/>
    <p:sldId id="304" r:id="rId21"/>
    <p:sldId id="306" r:id="rId22"/>
    <p:sldId id="305" r:id="rId23"/>
    <p:sldId id="319" r:id="rId24"/>
    <p:sldId id="307" r:id="rId25"/>
    <p:sldId id="288" r:id="rId26"/>
    <p:sldId id="289" r:id="rId27"/>
    <p:sldId id="296" r:id="rId28"/>
    <p:sldId id="341" r:id="rId29"/>
  </p:sldIdLst>
  <p:sldSz cx="12192000" cy="6858000"/>
  <p:notesSz cx="6858000" cy="18764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9A46"/>
    <a:srgbClr val="002D5B"/>
    <a:srgbClr val="3B84C1"/>
    <a:srgbClr val="FFFAFC"/>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274A35-4823-44AA-A03A-A1E3AE13A36C}" v="2" dt="2026-06-16T20:33:07.7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507" autoAdjust="0"/>
  </p:normalViewPr>
  <p:slideViewPr>
    <p:cSldViewPr snapToGrid="0">
      <p:cViewPr varScale="1">
        <p:scale>
          <a:sx n="42" d="100"/>
          <a:sy n="42" d="100"/>
        </p:scale>
        <p:origin x="15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Lyons" userId="25555755-1d4a-48ce-a94f-19bbc1292db7" providerId="ADAL" clId="{8173B903-8B5D-4ED9-A44B-3D2C17084DE1}"/>
    <pc:docChg chg="custSel delSld modSld">
      <pc:chgData name="Jordan Lyons" userId="25555755-1d4a-48ce-a94f-19bbc1292db7" providerId="ADAL" clId="{8173B903-8B5D-4ED9-A44B-3D2C17084DE1}" dt="2026-06-16T20:35:33.368" v="52" actId="1076"/>
      <pc:docMkLst>
        <pc:docMk/>
      </pc:docMkLst>
      <pc:sldChg chg="modNotesTx">
        <pc:chgData name="Jordan Lyons" userId="25555755-1d4a-48ce-a94f-19bbc1292db7" providerId="ADAL" clId="{8173B903-8B5D-4ED9-A44B-3D2C17084DE1}" dt="2026-06-16T20:33:27.777" v="12" actId="20577"/>
        <pc:sldMkLst>
          <pc:docMk/>
          <pc:sldMk cId="1997101767" sldId="274"/>
        </pc:sldMkLst>
      </pc:sldChg>
      <pc:sldChg chg="modSp mod modNotesTx">
        <pc:chgData name="Jordan Lyons" userId="25555755-1d4a-48ce-a94f-19bbc1292db7" providerId="ADAL" clId="{8173B903-8B5D-4ED9-A44B-3D2C17084DE1}" dt="2026-06-16T20:32:47.903" v="5" actId="20577"/>
        <pc:sldMkLst>
          <pc:docMk/>
          <pc:sldMk cId="2559842450" sldId="284"/>
        </pc:sldMkLst>
        <pc:spChg chg="mod">
          <ac:chgData name="Jordan Lyons" userId="25555755-1d4a-48ce-a94f-19bbc1292db7" providerId="ADAL" clId="{8173B903-8B5D-4ED9-A44B-3D2C17084DE1}" dt="2026-06-16T20:32:44.070" v="2" actId="20577"/>
          <ac:spMkLst>
            <pc:docMk/>
            <pc:sldMk cId="2559842450" sldId="284"/>
            <ac:spMk id="8" creationId="{CDD968FE-B667-4719-BFFE-724947BB433B}"/>
          </ac:spMkLst>
        </pc:spChg>
      </pc:sldChg>
      <pc:sldChg chg="modSp mod">
        <pc:chgData name="Jordan Lyons" userId="25555755-1d4a-48ce-a94f-19bbc1292db7" providerId="ADAL" clId="{8173B903-8B5D-4ED9-A44B-3D2C17084DE1}" dt="2026-06-16T20:33:20.617" v="11" actId="1076"/>
        <pc:sldMkLst>
          <pc:docMk/>
          <pc:sldMk cId="3036557869" sldId="285"/>
        </pc:sldMkLst>
        <pc:spChg chg="mod">
          <ac:chgData name="Jordan Lyons" userId="25555755-1d4a-48ce-a94f-19bbc1292db7" providerId="ADAL" clId="{8173B903-8B5D-4ED9-A44B-3D2C17084DE1}" dt="2026-06-16T20:33:20.617" v="11" actId="1076"/>
          <ac:spMkLst>
            <pc:docMk/>
            <pc:sldMk cId="3036557869" sldId="285"/>
            <ac:spMk id="5" creationId="{C95EB6F3-8E26-4B40-B796-313DFD239912}"/>
          </ac:spMkLst>
        </pc:spChg>
      </pc:sldChg>
      <pc:sldChg chg="modSp mod">
        <pc:chgData name="Jordan Lyons" userId="25555755-1d4a-48ce-a94f-19bbc1292db7" providerId="ADAL" clId="{8173B903-8B5D-4ED9-A44B-3D2C17084DE1}" dt="2026-06-16T20:35:33.368" v="52" actId="1076"/>
        <pc:sldMkLst>
          <pc:docMk/>
          <pc:sldMk cId="467025778" sldId="288"/>
        </pc:sldMkLst>
        <pc:spChg chg="mod">
          <ac:chgData name="Jordan Lyons" userId="25555755-1d4a-48ce-a94f-19bbc1292db7" providerId="ADAL" clId="{8173B903-8B5D-4ED9-A44B-3D2C17084DE1}" dt="2026-06-16T20:34:58.640" v="34" actId="1076"/>
          <ac:spMkLst>
            <pc:docMk/>
            <pc:sldMk cId="467025778" sldId="288"/>
            <ac:spMk id="6" creationId="{C790C9D3-A321-40D7-9E4B-9912023A1925}"/>
          </ac:spMkLst>
        </pc:spChg>
        <pc:spChg chg="mod">
          <ac:chgData name="Jordan Lyons" userId="25555755-1d4a-48ce-a94f-19bbc1292db7" providerId="ADAL" clId="{8173B903-8B5D-4ED9-A44B-3D2C17084DE1}" dt="2026-06-16T20:35:33.368" v="52" actId="1076"/>
          <ac:spMkLst>
            <pc:docMk/>
            <pc:sldMk cId="467025778" sldId="288"/>
            <ac:spMk id="7" creationId="{EB4EDB68-7F2E-4CAB-AA6D-58FAB3568BF6}"/>
          </ac:spMkLst>
        </pc:spChg>
      </pc:sldChg>
      <pc:sldChg chg="modSp mod">
        <pc:chgData name="Jordan Lyons" userId="25555755-1d4a-48ce-a94f-19bbc1292db7" providerId="ADAL" clId="{8173B903-8B5D-4ED9-A44B-3D2C17084DE1}" dt="2026-06-16T20:33:42.792" v="14" actId="27636"/>
        <pc:sldMkLst>
          <pc:docMk/>
          <pc:sldMk cId="2630481703" sldId="291"/>
        </pc:sldMkLst>
        <pc:spChg chg="mod">
          <ac:chgData name="Jordan Lyons" userId="25555755-1d4a-48ce-a94f-19bbc1292db7" providerId="ADAL" clId="{8173B903-8B5D-4ED9-A44B-3D2C17084DE1}" dt="2026-06-16T20:33:42.792" v="14" actId="27636"/>
          <ac:spMkLst>
            <pc:docMk/>
            <pc:sldMk cId="2630481703" sldId="291"/>
            <ac:spMk id="7" creationId="{2D0EAC4D-EE15-44BB-8B1B-9CCFB20D34E5}"/>
          </ac:spMkLst>
        </pc:spChg>
      </pc:sldChg>
      <pc:sldChg chg="del">
        <pc:chgData name="Jordan Lyons" userId="25555755-1d4a-48ce-a94f-19bbc1292db7" providerId="ADAL" clId="{8173B903-8B5D-4ED9-A44B-3D2C17084DE1}" dt="2026-06-16T20:34:42.062" v="29" actId="47"/>
        <pc:sldMkLst>
          <pc:docMk/>
          <pc:sldMk cId="3412077785" sldId="300"/>
        </pc:sldMkLst>
      </pc:sldChg>
      <pc:sldChg chg="modSp mod">
        <pc:chgData name="Jordan Lyons" userId="25555755-1d4a-48ce-a94f-19bbc1292db7" providerId="ADAL" clId="{8173B903-8B5D-4ED9-A44B-3D2C17084DE1}" dt="2026-06-16T20:34:00.445" v="20" actId="1076"/>
        <pc:sldMkLst>
          <pc:docMk/>
          <pc:sldMk cId="3036038521" sldId="302"/>
        </pc:sldMkLst>
        <pc:spChg chg="mod">
          <ac:chgData name="Jordan Lyons" userId="25555755-1d4a-48ce-a94f-19bbc1292db7" providerId="ADAL" clId="{8173B903-8B5D-4ED9-A44B-3D2C17084DE1}" dt="2026-06-16T20:34:00.445" v="20" actId="1076"/>
          <ac:spMkLst>
            <pc:docMk/>
            <pc:sldMk cId="3036038521" sldId="302"/>
            <ac:spMk id="3" creationId="{6EC6B683-9170-938B-F37E-155D6E270622}"/>
          </ac:spMkLst>
        </pc:spChg>
      </pc:sldChg>
      <pc:sldChg chg="addSp delSp modSp mod">
        <pc:chgData name="Jordan Lyons" userId="25555755-1d4a-48ce-a94f-19bbc1292db7" providerId="ADAL" clId="{8173B903-8B5D-4ED9-A44B-3D2C17084DE1}" dt="2026-06-16T20:34:32.912" v="28" actId="1076"/>
        <pc:sldMkLst>
          <pc:docMk/>
          <pc:sldMk cId="1529086790" sldId="306"/>
        </pc:sldMkLst>
        <pc:spChg chg="del mod">
          <ac:chgData name="Jordan Lyons" userId="25555755-1d4a-48ce-a94f-19bbc1292db7" providerId="ADAL" clId="{8173B903-8B5D-4ED9-A44B-3D2C17084DE1}" dt="2026-06-16T20:34:21.276" v="26" actId="478"/>
          <ac:spMkLst>
            <pc:docMk/>
            <pc:sldMk cId="1529086790" sldId="306"/>
            <ac:spMk id="3" creationId="{6EC6B683-9170-938B-F37E-155D6E270622}"/>
          </ac:spMkLst>
        </pc:spChg>
        <pc:spChg chg="add del mod">
          <ac:chgData name="Jordan Lyons" userId="25555755-1d4a-48ce-a94f-19bbc1292db7" providerId="ADAL" clId="{8173B903-8B5D-4ED9-A44B-3D2C17084DE1}" dt="2026-06-16T20:34:26.285" v="27" actId="478"/>
          <ac:spMkLst>
            <pc:docMk/>
            <pc:sldMk cId="1529086790" sldId="306"/>
            <ac:spMk id="4" creationId="{D89DF9DF-801A-CC98-775E-CA6B2218C681}"/>
          </ac:spMkLst>
        </pc:spChg>
        <pc:spChg chg="mod">
          <ac:chgData name="Jordan Lyons" userId="25555755-1d4a-48ce-a94f-19bbc1292db7" providerId="ADAL" clId="{8173B903-8B5D-4ED9-A44B-3D2C17084DE1}" dt="2026-06-16T20:34:32.912" v="28" actId="1076"/>
          <ac:spMkLst>
            <pc:docMk/>
            <pc:sldMk cId="1529086790" sldId="306"/>
            <ac:spMk id="5" creationId="{43AE36E4-045F-CC19-E25F-122C2023C352}"/>
          </ac:spMkLst>
        </pc:spChg>
      </pc:sldChg>
      <pc:sldChg chg="del">
        <pc:chgData name="Jordan Lyons" userId="25555755-1d4a-48ce-a94f-19bbc1292db7" providerId="ADAL" clId="{8173B903-8B5D-4ED9-A44B-3D2C17084DE1}" dt="2026-06-16T20:34:45.585" v="31" actId="47"/>
        <pc:sldMkLst>
          <pc:docMk/>
          <pc:sldMk cId="1361786690" sldId="309"/>
        </pc:sldMkLst>
      </pc:sldChg>
      <pc:sldChg chg="del">
        <pc:chgData name="Jordan Lyons" userId="25555755-1d4a-48ce-a94f-19bbc1292db7" providerId="ADAL" clId="{8173B903-8B5D-4ED9-A44B-3D2C17084DE1}" dt="2026-06-16T20:34:44.524" v="30" actId="47"/>
        <pc:sldMkLst>
          <pc:docMk/>
          <pc:sldMk cId="2266062832" sldId="347"/>
        </pc:sldMkLst>
      </pc:sldChg>
      <pc:sldChg chg="del">
        <pc:chgData name="Jordan Lyons" userId="25555755-1d4a-48ce-a94f-19bbc1292db7" providerId="ADAL" clId="{8173B903-8B5D-4ED9-A44B-3D2C17084DE1}" dt="2026-06-16T20:34:46.529" v="32" actId="47"/>
        <pc:sldMkLst>
          <pc:docMk/>
          <pc:sldMk cId="3881952559" sldId="3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2"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2" y="0"/>
            <a:ext cx="2971802" cy="458788"/>
          </a:xfrm>
          <a:prstGeom prst="rect">
            <a:avLst/>
          </a:prstGeom>
        </p:spPr>
        <p:txBody>
          <a:bodyPr vert="horz" lIns="91440" tIns="45720" rIns="91440" bIns="45720" rtlCol="0"/>
          <a:lstStyle>
            <a:lvl1pPr algn="r">
              <a:defRPr sz="1200"/>
            </a:lvl1pPr>
          </a:lstStyle>
          <a:p>
            <a:fld id="{D4E04C8F-5802-45D3-BF52-EFB476754B0E}"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2"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4"/>
            <a:ext cx="2971802"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2" y="8685214"/>
            <a:ext cx="2971802" cy="458787"/>
          </a:xfrm>
          <a:prstGeom prst="rect">
            <a:avLst/>
          </a:prstGeom>
        </p:spPr>
        <p:txBody>
          <a:bodyPr vert="horz" lIns="91440" tIns="45720" rIns="91440" bIns="45720" rtlCol="0" anchor="b"/>
          <a:lstStyle>
            <a:lvl1pPr algn="r">
              <a:defRPr sz="1200"/>
            </a:lvl1pPr>
          </a:lstStyle>
          <a:p>
            <a:fld id="{7B689ED6-FB8C-4885-9FE0-C80AA566FC48}" type="slidenum">
              <a:rPr lang="en-US" smtClean="0"/>
              <a:t>‹#›</a:t>
            </a:fld>
            <a:endParaRPr lang="en-US"/>
          </a:p>
        </p:txBody>
      </p:sp>
    </p:spTree>
    <p:extLst>
      <p:ext uri="{BB962C8B-B14F-4D97-AF65-F5344CB8AC3E}">
        <p14:creationId xmlns:p14="http://schemas.microsoft.com/office/powerpoint/2010/main" val="1735115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63256E-5B71-4A00-9D19-4FA7E24E6E38}" type="slidenum">
              <a:rPr lang="en-US" smtClean="0"/>
              <a:t>1</a:t>
            </a:fld>
            <a:endParaRPr lang="en-US"/>
          </a:p>
        </p:txBody>
      </p:sp>
    </p:spTree>
    <p:extLst>
      <p:ext uri="{BB962C8B-B14F-4D97-AF65-F5344CB8AC3E}">
        <p14:creationId xmlns:p14="http://schemas.microsoft.com/office/powerpoint/2010/main" val="1857335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303FB-A9CF-6A4E-7CCA-C80679D95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51762-B964-92A7-458F-93F29A2816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B4DE7-D41E-12B7-4734-F6EF786355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F8049A-FABD-E1E7-F619-82063B1E96AD}"/>
              </a:ext>
            </a:extLst>
          </p:cNvPr>
          <p:cNvSpPr>
            <a:spLocks noGrp="1"/>
          </p:cNvSpPr>
          <p:nvPr>
            <p:ph type="sldNum" sz="quarter" idx="5"/>
          </p:nvPr>
        </p:nvSpPr>
        <p:spPr/>
        <p:txBody>
          <a:bodyPr/>
          <a:lstStyle/>
          <a:p>
            <a:fld id="{13B7A10B-E69F-4731-87BD-11DF54FCED0C}" type="slidenum">
              <a:rPr lang="en-US" smtClean="0"/>
              <a:t>2</a:t>
            </a:fld>
            <a:endParaRPr lang="en-US"/>
          </a:p>
        </p:txBody>
      </p:sp>
    </p:spTree>
    <p:extLst>
      <p:ext uri="{BB962C8B-B14F-4D97-AF65-F5344CB8AC3E}">
        <p14:creationId xmlns:p14="http://schemas.microsoft.com/office/powerpoint/2010/main" val="1280494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6EB28-F4F5-D0E2-0CD2-C6E1610C3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4BAE8-976D-56A3-C403-C7FCB0C67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452AB-88F2-E412-D4D3-4D089F1C00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important to know about a job from the salesperson before you start recruiting on it?</a:t>
            </a:r>
          </a:p>
        </p:txBody>
      </p:sp>
      <p:sp>
        <p:nvSpPr>
          <p:cNvPr id="4" name="Slide Number Placeholder 3">
            <a:extLst>
              <a:ext uri="{FF2B5EF4-FFF2-40B4-BE49-F238E27FC236}">
                <a16:creationId xmlns:a16="http://schemas.microsoft.com/office/drawing/2014/main" id="{1B786FAA-54C7-4730-931E-33A6CD054E34}"/>
              </a:ext>
            </a:extLst>
          </p:cNvPr>
          <p:cNvSpPr>
            <a:spLocks noGrp="1"/>
          </p:cNvSpPr>
          <p:nvPr>
            <p:ph type="sldNum" sz="quarter" idx="5"/>
          </p:nvPr>
        </p:nvSpPr>
        <p:spPr/>
        <p:txBody>
          <a:bodyPr/>
          <a:lstStyle/>
          <a:p>
            <a:fld id="{13B7A10B-E69F-4731-87BD-11DF54FCED0C}" type="slidenum">
              <a:rPr lang="en-US" smtClean="0"/>
              <a:t>3</a:t>
            </a:fld>
            <a:endParaRPr lang="en-US"/>
          </a:p>
        </p:txBody>
      </p:sp>
    </p:spTree>
    <p:extLst>
      <p:ext uri="{BB962C8B-B14F-4D97-AF65-F5344CB8AC3E}">
        <p14:creationId xmlns:p14="http://schemas.microsoft.com/office/powerpoint/2010/main" val="74888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94D2-57FA-8945-EBD7-562BC8B22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7E419-4A9A-F935-7A89-AE45B2F04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32F85-849D-276F-0D54-8D0557D5AC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48E40C-881A-D127-CCBB-60AA23C4FA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148D4C-2B52-4FD5-B0E0-D9F4C8B42F5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4412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9DAFA-4C89-95EB-0B9D-081FBE1E6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10319-9A56-EC50-1411-6A9E848DA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B11D8-CB6A-BE7B-1DB9-FA39A9DFD1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DD55F53-FD55-C6F0-D182-DF29D3AAFC7A}"/>
              </a:ext>
            </a:extLst>
          </p:cNvPr>
          <p:cNvSpPr>
            <a:spLocks noGrp="1"/>
          </p:cNvSpPr>
          <p:nvPr>
            <p:ph type="sldNum" sz="quarter" idx="5"/>
          </p:nvPr>
        </p:nvSpPr>
        <p:spPr/>
        <p:txBody>
          <a:bodyPr/>
          <a:lstStyle/>
          <a:p>
            <a:fld id="{13B7A10B-E69F-4731-87BD-11DF54FCED0C}" type="slidenum">
              <a:rPr lang="en-US" smtClean="0"/>
              <a:t>5</a:t>
            </a:fld>
            <a:endParaRPr lang="en-US"/>
          </a:p>
        </p:txBody>
      </p:sp>
    </p:spTree>
    <p:extLst>
      <p:ext uri="{BB962C8B-B14F-4D97-AF65-F5344CB8AC3E}">
        <p14:creationId xmlns:p14="http://schemas.microsoft.com/office/powerpoint/2010/main" val="2577449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Before you call anyone, take a few minutes to make sure you really understand the Job. You can’t have any success with role until you do.</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“Failing to plan, is planning to fail”.  Need to always prep prior to interview to make it effective and valuable!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Review the job</a:t>
            </a:r>
          </a:p>
          <a:p>
            <a:r>
              <a:rPr lang="en-US" sz="1200" b="0" i="0" kern="1200" dirty="0">
                <a:solidFill>
                  <a:schemeClr val="tx1"/>
                </a:solidFill>
                <a:effectLst/>
                <a:latin typeface="+mn-lt"/>
                <a:ea typeface="+mn-ea"/>
                <a:cs typeface="+mn-cs"/>
              </a:rPr>
              <a:t>Review the resume</a:t>
            </a:r>
          </a:p>
          <a:p>
            <a:r>
              <a:rPr lang="en-US" sz="1200" b="0" i="0" kern="1200" dirty="0">
                <a:solidFill>
                  <a:schemeClr val="tx1"/>
                </a:solidFill>
                <a:effectLst/>
                <a:latin typeface="+mn-lt"/>
                <a:ea typeface="+mn-ea"/>
                <a:cs typeface="+mn-cs"/>
              </a:rPr>
              <a:t>Review the candidate on Social Medial (LinkedIn)</a:t>
            </a:r>
          </a:p>
          <a:p>
            <a:r>
              <a:rPr lang="en-US" sz="1200" b="0" i="0" kern="1200" dirty="0">
                <a:solidFill>
                  <a:schemeClr val="tx1"/>
                </a:solidFill>
                <a:effectLst/>
                <a:latin typeface="+mn-lt"/>
                <a:ea typeface="+mn-ea"/>
                <a:cs typeface="+mn-cs"/>
              </a:rPr>
              <a:t>Have a list of questions ready</a:t>
            </a:r>
          </a:p>
          <a:p>
            <a:r>
              <a:rPr lang="en-US" sz="1200" b="0" i="0" kern="1200" dirty="0">
                <a:solidFill>
                  <a:schemeClr val="tx1"/>
                </a:solidFill>
                <a:effectLst/>
                <a:latin typeface="+mn-lt"/>
                <a:ea typeface="+mn-ea"/>
                <a:cs typeface="+mn-cs"/>
              </a:rPr>
              <a:t>Make sure you’ve spoken with sales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655955-4BA4-45C1-A4B3-5663B36AAC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169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Tell your candidates that you “take your direction from them” and “will not waste their time.” This encourages them to give you directions and reveal more information.</a:t>
            </a:r>
          </a:p>
          <a:p>
            <a:endParaRPr lang="en-US" sz="1200" b="0" i="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655955-4BA4-45C1-A4B3-5663B36AAC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2982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interview is the foundation of the entire hiring process. This is why it’s critical that you ask the best questions. It takes time and practice to master the ability to conduct an effective interview. It is important to realize you are a complete stranger who your candidate doesn’t necessarily trust, so their answers can be guarded. Without a proper interview, you will have problems occur throughout the hiring process.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63256E-5B71-4A00-9D19-4FA7E24E6E3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8074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want to introduce yourself</a:t>
            </a:r>
          </a:p>
          <a:p>
            <a:endParaRPr lang="en-US" dirty="0"/>
          </a:p>
          <a:p>
            <a:r>
              <a:rPr lang="en-US" dirty="0"/>
              <a:t>Before and after the interview, you will want to make sure that you are showcasing the cool company that you work for and why they would want to work for DWS</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655955-4BA4-45C1-A4B3-5663B36AAC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3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interviewing candidates for the first time, there  a few general questions that I always tend to ask consistently:</a:t>
            </a:r>
          </a:p>
          <a:p>
            <a:pPr marL="228600" indent="-228600">
              <a:buAutoNum type="arabicParenR"/>
            </a:pPr>
            <a:r>
              <a:rPr lang="en-US" sz="1200" b="0" i="0" kern="1200" dirty="0">
                <a:solidFill>
                  <a:schemeClr val="tx1"/>
                </a:solidFill>
                <a:effectLst/>
                <a:latin typeface="+mn-lt"/>
                <a:ea typeface="+mn-ea"/>
                <a:cs typeface="+mn-cs"/>
              </a:rPr>
              <a:t>Open with this question: So I notice you are currently working for XYZ – what are the current circumstances there that are causing you to look for a new career opportunity? What is going on specifically in your group?</a:t>
            </a:r>
          </a:p>
          <a:p>
            <a:pPr marL="228600" indent="-228600">
              <a:buAutoNum type="arabicParenR"/>
            </a:pPr>
            <a:endParaRPr lang="en-US" sz="1200" b="0" i="0" kern="1200" dirty="0">
              <a:solidFill>
                <a:schemeClr val="tx1"/>
              </a:solidFill>
              <a:effectLst/>
              <a:latin typeface="+mn-lt"/>
              <a:ea typeface="+mn-ea"/>
              <a:cs typeface="+mn-cs"/>
            </a:endParaRPr>
          </a:p>
          <a:p>
            <a:pPr marL="228600" indent="-228600">
              <a:buAutoNum type="arabicParenR"/>
            </a:pPr>
            <a:r>
              <a:rPr lang="en-US" sz="1200" b="0" i="0" kern="1200" dirty="0">
                <a:solidFill>
                  <a:schemeClr val="tx1"/>
                </a:solidFill>
                <a:effectLst/>
                <a:latin typeface="+mn-lt"/>
                <a:ea typeface="+mn-ea"/>
                <a:cs typeface="+mn-cs"/>
              </a:rPr>
              <a:t>This does 2 things: </a:t>
            </a:r>
          </a:p>
          <a:p>
            <a:pPr marL="685800" lvl="1" indent="-228600">
              <a:buAutoNum type="alphaLcParenR"/>
            </a:pPr>
            <a:r>
              <a:rPr lang="en-US" sz="1200" b="0" i="0" kern="1200" dirty="0">
                <a:solidFill>
                  <a:schemeClr val="tx1"/>
                </a:solidFill>
                <a:effectLst/>
                <a:latin typeface="+mn-lt"/>
                <a:ea typeface="+mn-ea"/>
                <a:cs typeface="+mn-cs"/>
              </a:rPr>
              <a:t>it gives the candidate open-ended forum to give you some COMPELLING reasons why he/she is looking, and </a:t>
            </a:r>
          </a:p>
          <a:p>
            <a:pPr marL="685800" lvl="1" indent="-228600">
              <a:buAutoNum type="alphaLcParenR"/>
            </a:pPr>
            <a:r>
              <a:rPr lang="en-US" sz="1200" b="0" i="0" kern="1200" dirty="0">
                <a:solidFill>
                  <a:schemeClr val="tx1"/>
                </a:solidFill>
                <a:effectLst/>
                <a:latin typeface="+mn-lt"/>
                <a:ea typeface="+mn-ea"/>
                <a:cs typeface="+mn-cs"/>
              </a:rPr>
              <a:t>gives you some market intel about the client and/or group the person works in.</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655955-4BA4-45C1-A4B3-5663B36AAC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9604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2E655955-4BA4-45C1-A4B3-5663B36AACA9}" type="slidenum">
              <a:rPr lang="en-US" smtClean="0"/>
              <a:t>11</a:t>
            </a:fld>
            <a:endParaRPr lang="en-US"/>
          </a:p>
        </p:txBody>
      </p:sp>
    </p:spTree>
    <p:extLst>
      <p:ext uri="{BB962C8B-B14F-4D97-AF65-F5344CB8AC3E}">
        <p14:creationId xmlns:p14="http://schemas.microsoft.com/office/powerpoint/2010/main" val="383476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689ED6-FB8C-4885-9FE0-C80AA566FC48}" type="slidenum">
              <a:rPr lang="en-US" smtClean="0"/>
              <a:t>14</a:t>
            </a:fld>
            <a:endParaRPr lang="en-US"/>
          </a:p>
        </p:txBody>
      </p:sp>
    </p:spTree>
    <p:extLst>
      <p:ext uri="{BB962C8B-B14F-4D97-AF65-F5344CB8AC3E}">
        <p14:creationId xmlns:p14="http://schemas.microsoft.com/office/powerpoint/2010/main" val="1977553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5510C-9E55-2A3D-ECCB-8AFD8437E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E7F22-BB21-57FF-418C-2F74216E1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FB6AE-9D72-008A-AAD7-8FE899239ADE}"/>
              </a:ext>
            </a:extLst>
          </p:cNvPr>
          <p:cNvSpPr>
            <a:spLocks noGrp="1"/>
          </p:cNvSpPr>
          <p:nvPr>
            <p:ph type="body" idx="1"/>
          </p:nvPr>
        </p:nvSpPr>
        <p:spPr/>
        <p:txBody>
          <a:bodyPr/>
          <a:lstStyle/>
          <a:p>
            <a:r>
              <a:rPr lang="en-US" sz="3200" dirty="0"/>
              <a:t>Ensure we are representing candidates that are truthful &amp; that the resumes speak for them</a:t>
            </a:r>
          </a:p>
          <a:p>
            <a:r>
              <a:rPr lang="en-US" sz="3200" dirty="0"/>
              <a:t>Be a little skeptical and do not be afraid to ask difficult questions</a:t>
            </a:r>
          </a:p>
          <a:p>
            <a:r>
              <a:rPr lang="en-US" sz="3200" dirty="0"/>
              <a:t>We will do more training on this but for </a:t>
            </a:r>
          </a:p>
          <a:p>
            <a:endParaRPr lang="en-US" sz="3200" dirty="0"/>
          </a:p>
          <a:p>
            <a:r>
              <a:rPr lang="en-US" sz="3200" dirty="0"/>
              <a:t>Healthcare:</a:t>
            </a:r>
          </a:p>
          <a:p>
            <a:r>
              <a:rPr lang="en-US" sz="3200" dirty="0"/>
              <a:t>Screen for DNR situations (additional training to come!)</a:t>
            </a:r>
          </a:p>
          <a:p>
            <a:r>
              <a:rPr lang="en-US" sz="3200" dirty="0"/>
              <a:t>Dates need to match their actual work history- this will come up in their background check and could interfere with onboarding</a:t>
            </a:r>
          </a:p>
          <a:p>
            <a:pPr lvl="1"/>
            <a:r>
              <a:rPr lang="en-US" sz="2800" dirty="0"/>
              <a:t>Work together to make sure it all aligns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Validate candidate identity (references, Ropes, LinkedIn check, resume red flags)</a:t>
            </a:r>
          </a:p>
        </p:txBody>
      </p:sp>
      <p:sp>
        <p:nvSpPr>
          <p:cNvPr id="4" name="Slide Number Placeholder 3">
            <a:extLst>
              <a:ext uri="{FF2B5EF4-FFF2-40B4-BE49-F238E27FC236}">
                <a16:creationId xmlns:a16="http://schemas.microsoft.com/office/drawing/2014/main" id="{36AA9775-FC98-748B-BB51-61184DE4F52D}"/>
              </a:ext>
            </a:extLst>
          </p:cNvPr>
          <p:cNvSpPr>
            <a:spLocks noGrp="1"/>
          </p:cNvSpPr>
          <p:nvPr>
            <p:ph type="sldNum" sz="quarter" idx="5"/>
          </p:nvPr>
        </p:nvSpPr>
        <p:spPr/>
        <p:txBody>
          <a:bodyPr/>
          <a:lstStyle/>
          <a:p>
            <a:fld id="{13B7A10B-E69F-4731-87BD-11DF54FCED0C}" type="slidenum">
              <a:rPr lang="en-US" smtClean="0"/>
              <a:t>17</a:t>
            </a:fld>
            <a:endParaRPr lang="en-US"/>
          </a:p>
        </p:txBody>
      </p:sp>
    </p:spTree>
    <p:extLst>
      <p:ext uri="{BB962C8B-B14F-4D97-AF65-F5344CB8AC3E}">
        <p14:creationId xmlns:p14="http://schemas.microsoft.com/office/powerpoint/2010/main" val="654696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7520D-37AE-3D09-18A0-783830AFB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27BE08-AF9C-2C15-F724-4A26E6C9DA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0C797-FC2C-177F-76CA-0F7221748B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07BF0B-3DE0-89F3-5E99-83765F0472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655955-4BA4-45C1-A4B3-5663B36AAC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6883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655955-4BA4-45C1-A4B3-5663B36AACA9}" type="slidenum">
              <a:rPr lang="en-US" smtClean="0"/>
              <a:t>19</a:t>
            </a:fld>
            <a:endParaRPr lang="en-US"/>
          </a:p>
        </p:txBody>
      </p:sp>
    </p:spTree>
    <p:extLst>
      <p:ext uri="{BB962C8B-B14F-4D97-AF65-F5344CB8AC3E}">
        <p14:creationId xmlns:p14="http://schemas.microsoft.com/office/powerpoint/2010/main" val="1059016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Before parting – summarize in your own words hitting on all these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Make sure you understand this person inside and out (and further for them to have confidence in you, as the recruiter and understand their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STOP:  Ask class how would they would summarize the interview.  Do a few practice summaries!  </a:t>
            </a:r>
          </a:p>
          <a:p>
            <a:endParaRPr lang="en-US" dirty="0"/>
          </a:p>
          <a:p>
            <a:endParaRPr lang="en-US" dirty="0"/>
          </a:p>
        </p:txBody>
      </p:sp>
      <p:sp>
        <p:nvSpPr>
          <p:cNvPr id="4" name="Slide Number Placeholder 3"/>
          <p:cNvSpPr>
            <a:spLocks noGrp="1"/>
          </p:cNvSpPr>
          <p:nvPr>
            <p:ph type="sldNum" sz="quarter" idx="5"/>
          </p:nvPr>
        </p:nvSpPr>
        <p:spPr/>
        <p:txBody>
          <a:bodyPr/>
          <a:lstStyle/>
          <a:p>
            <a:fld id="{2E655955-4BA4-45C1-A4B3-5663B36AACA9}" type="slidenum">
              <a:rPr lang="en-US" smtClean="0"/>
              <a:t>20</a:t>
            </a:fld>
            <a:endParaRPr lang="en-US"/>
          </a:p>
        </p:txBody>
      </p:sp>
    </p:spTree>
    <p:extLst>
      <p:ext uri="{BB962C8B-B14F-4D97-AF65-F5344CB8AC3E}">
        <p14:creationId xmlns:p14="http://schemas.microsoft.com/office/powerpoint/2010/main" val="526126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655955-4BA4-45C1-A4B3-5663B36AACA9}" type="slidenum">
              <a:rPr lang="en-US" smtClean="0"/>
              <a:t>21</a:t>
            </a:fld>
            <a:endParaRPr lang="en-US"/>
          </a:p>
        </p:txBody>
      </p:sp>
    </p:spTree>
    <p:extLst>
      <p:ext uri="{BB962C8B-B14F-4D97-AF65-F5344CB8AC3E}">
        <p14:creationId xmlns:p14="http://schemas.microsoft.com/office/powerpoint/2010/main" val="2952195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AFBF-66FF-494C-BFBA-76E6EE5141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4ADC41-6497-4B87-8496-DDCE1E47F7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B7F3DD-6B2B-4C67-8971-8EEBFCB37214}"/>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5" name="Footer Placeholder 4">
            <a:extLst>
              <a:ext uri="{FF2B5EF4-FFF2-40B4-BE49-F238E27FC236}">
                <a16:creationId xmlns:a16="http://schemas.microsoft.com/office/drawing/2014/main" id="{43EC8EAA-CF16-4D72-B9A7-97D79CD4B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1BE16A-88FF-467B-8B9E-32C42F072337}"/>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216293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7845-2A1F-4FE5-AFA4-EE6732AC04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57129A-5C8B-47C3-BA64-F31B78CE62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2AB8C0-24CE-466C-BA5E-1070193498DD}"/>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5" name="Footer Placeholder 4">
            <a:extLst>
              <a:ext uri="{FF2B5EF4-FFF2-40B4-BE49-F238E27FC236}">
                <a16:creationId xmlns:a16="http://schemas.microsoft.com/office/drawing/2014/main" id="{7157FC8C-59BA-47E2-B4C4-5805BF7E89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7A310-E5F4-405B-BB22-EECFC73264C3}"/>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341987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A6845-843A-4765-A322-D2D523B710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211BCE-F903-49D0-83EB-572DEFAA38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46CFB8-1726-43B6-87B4-F466DDF6F05A}"/>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5" name="Footer Placeholder 4">
            <a:extLst>
              <a:ext uri="{FF2B5EF4-FFF2-40B4-BE49-F238E27FC236}">
                <a16:creationId xmlns:a16="http://schemas.microsoft.com/office/drawing/2014/main" id="{F9C4C820-2A4C-4567-BDB1-C4A10F2610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511368-D7B0-40AB-AFA0-B33635FF0940}"/>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632581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9CF8E-3F0B-450F-851B-AC5D1EEB9B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932257-2AA3-4592-9E0C-8C990C5B07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E9FDC1-1D1F-4B54-B68A-694F202C4C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AA0C29-253A-4105-8F7B-9C162CBCD806}"/>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6" name="Footer Placeholder 5">
            <a:extLst>
              <a:ext uri="{FF2B5EF4-FFF2-40B4-BE49-F238E27FC236}">
                <a16:creationId xmlns:a16="http://schemas.microsoft.com/office/drawing/2014/main" id="{23755FC0-AC0A-4DF9-8851-DB63061453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EC0DD3-0E6B-48B4-BF91-D831A212032D}"/>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25664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F41A8-40D7-472A-8DA0-6DE6C28B98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33032F-6F30-4969-A9DC-0521CBB146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6C86A0-F6E4-4070-91E3-957EE8A31B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EDC55E-0154-4614-BCEB-A41B92D9ED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868437-468A-471A-BABF-7DDA50EDE4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D3666D-B4BD-4BD7-98FF-BC10067C8608}"/>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8" name="Footer Placeholder 7">
            <a:extLst>
              <a:ext uri="{FF2B5EF4-FFF2-40B4-BE49-F238E27FC236}">
                <a16:creationId xmlns:a16="http://schemas.microsoft.com/office/drawing/2014/main" id="{DDDFB9D5-BA4B-408D-91FA-57F4B01A11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17F0AA-FA83-4F60-AF3C-9DCF55A10BB8}"/>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96515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D0E68-A07F-48EA-95F4-EB35494F4E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ACA813-490E-418B-A063-3EFF880106FD}"/>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4" name="Footer Placeholder 3">
            <a:extLst>
              <a:ext uri="{FF2B5EF4-FFF2-40B4-BE49-F238E27FC236}">
                <a16:creationId xmlns:a16="http://schemas.microsoft.com/office/drawing/2014/main" id="{BFE15814-E8E0-4FB0-8BBC-27DB285336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927C88-BEFE-4A4A-A1F7-6B9E25308152}"/>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804507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CAF30D-BA36-4AE0-8C94-205FFFFB6AB4}"/>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3" name="Footer Placeholder 2">
            <a:extLst>
              <a:ext uri="{FF2B5EF4-FFF2-40B4-BE49-F238E27FC236}">
                <a16:creationId xmlns:a16="http://schemas.microsoft.com/office/drawing/2014/main" id="{613F9823-3243-4085-B907-4F391A91AE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172418-C265-4650-AC20-7239564CF346}"/>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752843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AD9C8-71E4-474A-9314-946F46AA1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504162-3445-4F84-8E18-C90410B4FC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D30B4F-D7B0-4AD4-A8E3-D98F0B0BDE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ED4644-55CF-4BBD-80D7-642F8797E1AF}"/>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6" name="Footer Placeholder 5">
            <a:extLst>
              <a:ext uri="{FF2B5EF4-FFF2-40B4-BE49-F238E27FC236}">
                <a16:creationId xmlns:a16="http://schemas.microsoft.com/office/drawing/2014/main" id="{D3F7DE4D-D29D-4B38-8E67-3BFF8B9BF5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743A83-6ECA-4E1A-9AD6-166CCA81ED16}"/>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77424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A0158-6263-446C-8259-AF9BA70781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3DB2B9-BCE3-489D-8014-9464A2390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7797F9-62D8-4315-935A-AAF8A6C78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AB0E9-2BC4-4C39-A0A3-1D6295299A3E}"/>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6" name="Footer Placeholder 5">
            <a:extLst>
              <a:ext uri="{FF2B5EF4-FFF2-40B4-BE49-F238E27FC236}">
                <a16:creationId xmlns:a16="http://schemas.microsoft.com/office/drawing/2014/main" id="{C3850AB0-6C8C-4137-A098-35A4E8428A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3636D2-B51E-48FB-A620-D7BE043A4B86}"/>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2976107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9FDD8-9B0B-40E4-88CB-DF9D72CED4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321652-9EB9-4D39-B929-9A823179FA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F4C04-738F-4A17-9DCF-8A583D75F90A}"/>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5" name="Footer Placeholder 4">
            <a:extLst>
              <a:ext uri="{FF2B5EF4-FFF2-40B4-BE49-F238E27FC236}">
                <a16:creationId xmlns:a16="http://schemas.microsoft.com/office/drawing/2014/main" id="{42DB6994-162C-4B58-9F04-4E9DD2040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66087-5E2B-4C9F-9289-1991EBCB5482}"/>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2276249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6BC6E8-F570-4235-8EF8-92E86E0DB5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531488-6424-4053-8802-59AFE57F9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FF7235-41DD-4C03-8A59-E3C9824A95F4}"/>
              </a:ext>
            </a:extLst>
          </p:cNvPr>
          <p:cNvSpPr>
            <a:spLocks noGrp="1"/>
          </p:cNvSpPr>
          <p:nvPr>
            <p:ph type="dt" sz="half" idx="10"/>
          </p:nvPr>
        </p:nvSpPr>
        <p:spPr/>
        <p:txBody>
          <a:bodyPr/>
          <a:lstStyle/>
          <a:p>
            <a:fld id="{D40AE11D-13A1-497C-B032-6447346D233F}" type="datetimeFigureOut">
              <a:rPr lang="en-US" smtClean="0"/>
              <a:t>6/16/2026</a:t>
            </a:fld>
            <a:endParaRPr lang="en-US"/>
          </a:p>
        </p:txBody>
      </p:sp>
      <p:sp>
        <p:nvSpPr>
          <p:cNvPr id="5" name="Footer Placeholder 4">
            <a:extLst>
              <a:ext uri="{FF2B5EF4-FFF2-40B4-BE49-F238E27FC236}">
                <a16:creationId xmlns:a16="http://schemas.microsoft.com/office/drawing/2014/main" id="{441EB3BE-F264-4537-A3B4-A21D14CA1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D701EF-6949-46E8-9B20-D0FDB859D030}"/>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3326310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E3C3475F-96ED-4FAC-90D3-826E4DEB697E}"/>
              </a:ext>
            </a:extLst>
          </p:cNvPr>
          <p:cNvSpPr>
            <a:spLocks noGrp="1"/>
          </p:cNvSpPr>
          <p:nvPr>
            <p:ph type="pic" sz="quarter" idx="14"/>
          </p:nvPr>
        </p:nvSpPr>
        <p:spPr>
          <a:xfrm>
            <a:off x="0" y="0"/>
            <a:ext cx="11137625" cy="6858000"/>
          </a:xfr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3259040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8_Title Slide">
    <p:spTree>
      <p:nvGrpSpPr>
        <p:cNvPr id="1" name=""/>
        <p:cNvGrpSpPr/>
        <p:nvPr/>
      </p:nvGrpSpPr>
      <p:grpSpPr>
        <a:xfrm>
          <a:off x="0" y="0"/>
          <a:ext cx="0" cy="0"/>
          <a:chOff x="0" y="0"/>
          <a:chExt cx="0" cy="0"/>
        </a:xfrm>
      </p:grpSpPr>
      <p:sp>
        <p:nvSpPr>
          <p:cNvPr id="4" name="Picture Placeholder 15">
            <a:extLst>
              <a:ext uri="{FF2B5EF4-FFF2-40B4-BE49-F238E27FC236}">
                <a16:creationId xmlns:a16="http://schemas.microsoft.com/office/drawing/2014/main" id="{FD0465AB-03AE-44EA-BBA7-06F19B739CCE}"/>
              </a:ext>
            </a:extLst>
          </p:cNvPr>
          <p:cNvSpPr>
            <a:spLocks noGrp="1"/>
          </p:cNvSpPr>
          <p:nvPr>
            <p:ph type="pic" sz="quarter" idx="10"/>
          </p:nvPr>
        </p:nvSpPr>
        <p:spPr>
          <a:xfrm>
            <a:off x="6096000" y="237565"/>
            <a:ext cx="1829276" cy="1828800"/>
          </a:xfrm>
          <a:prstGeom prst="ellipse">
            <a:avLst/>
          </a:prstGeom>
          <a:solidFill>
            <a:schemeClr val="accent2">
              <a:lumMod val="20000"/>
              <a:lumOff val="80000"/>
            </a:schemeClr>
          </a:solidFill>
        </p:spPr>
        <p:txBody>
          <a:bodyPr/>
          <a:lstStyle/>
          <a:p>
            <a:endParaRPr lang="en-US"/>
          </a:p>
        </p:txBody>
      </p:sp>
      <p:sp>
        <p:nvSpPr>
          <p:cNvPr id="5" name="Picture Placeholder 15">
            <a:extLst>
              <a:ext uri="{FF2B5EF4-FFF2-40B4-BE49-F238E27FC236}">
                <a16:creationId xmlns:a16="http://schemas.microsoft.com/office/drawing/2014/main" id="{64C1FCB3-2544-44A8-8E69-2AD20430FDEB}"/>
              </a:ext>
            </a:extLst>
          </p:cNvPr>
          <p:cNvSpPr>
            <a:spLocks noGrp="1"/>
          </p:cNvSpPr>
          <p:nvPr>
            <p:ph type="pic" sz="quarter" idx="11"/>
          </p:nvPr>
        </p:nvSpPr>
        <p:spPr>
          <a:xfrm>
            <a:off x="6096000" y="2519082"/>
            <a:ext cx="1829276" cy="1828800"/>
          </a:xfrm>
          <a:prstGeom prst="ellipse">
            <a:avLst/>
          </a:prstGeom>
          <a:solidFill>
            <a:schemeClr val="accent2">
              <a:lumMod val="20000"/>
              <a:lumOff val="80000"/>
            </a:schemeClr>
          </a:solidFill>
        </p:spPr>
        <p:txBody>
          <a:bodyPr/>
          <a:lstStyle/>
          <a:p>
            <a:endParaRPr lang="en-US"/>
          </a:p>
        </p:txBody>
      </p:sp>
      <p:sp>
        <p:nvSpPr>
          <p:cNvPr id="6" name="Picture Placeholder 15">
            <a:extLst>
              <a:ext uri="{FF2B5EF4-FFF2-40B4-BE49-F238E27FC236}">
                <a16:creationId xmlns:a16="http://schemas.microsoft.com/office/drawing/2014/main" id="{DF77CF4A-D9D6-4926-8063-DA245A1F08EC}"/>
              </a:ext>
            </a:extLst>
          </p:cNvPr>
          <p:cNvSpPr>
            <a:spLocks noGrp="1"/>
          </p:cNvSpPr>
          <p:nvPr>
            <p:ph type="pic" sz="quarter" idx="12"/>
          </p:nvPr>
        </p:nvSpPr>
        <p:spPr>
          <a:xfrm>
            <a:off x="6096000" y="4800599"/>
            <a:ext cx="1829276" cy="1828800"/>
          </a:xfrm>
          <a:prstGeom prst="ellipse">
            <a:avLst/>
          </a:prstGeom>
          <a:solidFill>
            <a:schemeClr val="accent2">
              <a:lumMod val="20000"/>
              <a:lumOff val="80000"/>
            </a:schemeClr>
          </a:solidFill>
        </p:spPr>
        <p:txBody>
          <a:bodyPr/>
          <a:lstStyle/>
          <a:p>
            <a:endParaRPr lang="en-US"/>
          </a:p>
        </p:txBody>
      </p:sp>
      <p:sp>
        <p:nvSpPr>
          <p:cNvPr id="7" name="Picture Placeholder 7">
            <a:extLst>
              <a:ext uri="{FF2B5EF4-FFF2-40B4-BE49-F238E27FC236}">
                <a16:creationId xmlns:a16="http://schemas.microsoft.com/office/drawing/2014/main" id="{85B0E1ED-3548-48ED-8FEE-A81ED9E664EA}"/>
              </a:ext>
            </a:extLst>
          </p:cNvPr>
          <p:cNvSpPr>
            <a:spLocks noGrp="1"/>
          </p:cNvSpPr>
          <p:nvPr>
            <p:ph type="pic" sz="quarter" idx="13"/>
          </p:nvPr>
        </p:nvSpPr>
        <p:spPr>
          <a:xfrm>
            <a:off x="0" y="0"/>
            <a:ext cx="3819959" cy="6858000"/>
          </a:xfr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18585055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52D5DEF7-EF7F-4421-BAE6-60FF02BCB990}"/>
              </a:ext>
            </a:extLst>
          </p:cNvPr>
          <p:cNvSpPr>
            <a:spLocks noGrp="1"/>
          </p:cNvSpPr>
          <p:nvPr>
            <p:ph type="pic" sz="quarter" idx="15"/>
          </p:nvPr>
        </p:nvSpPr>
        <p:spPr>
          <a:xfrm>
            <a:off x="9298822" y="0"/>
            <a:ext cx="2893178" cy="3429000"/>
          </a:xfrm>
          <a:solidFill>
            <a:schemeClr val="accent2">
              <a:lumMod val="20000"/>
              <a:lumOff val="80000"/>
            </a:schemeClr>
          </a:solidFill>
        </p:spPr>
        <p:txBody>
          <a:bodyPr/>
          <a:lstStyle/>
          <a:p>
            <a:endParaRPr lang="en-US"/>
          </a:p>
        </p:txBody>
      </p:sp>
      <p:sp>
        <p:nvSpPr>
          <p:cNvPr id="4" name="Picture Placeholder 7">
            <a:extLst>
              <a:ext uri="{FF2B5EF4-FFF2-40B4-BE49-F238E27FC236}">
                <a16:creationId xmlns:a16="http://schemas.microsoft.com/office/drawing/2014/main" id="{5F684D42-4234-4F61-AA7C-686AF930D7A6}"/>
              </a:ext>
            </a:extLst>
          </p:cNvPr>
          <p:cNvSpPr>
            <a:spLocks noGrp="1"/>
          </p:cNvSpPr>
          <p:nvPr>
            <p:ph type="pic" sz="quarter" idx="16"/>
          </p:nvPr>
        </p:nvSpPr>
        <p:spPr>
          <a:xfrm>
            <a:off x="9298822" y="3429000"/>
            <a:ext cx="2893178" cy="3429000"/>
          </a:xfrm>
          <a:solidFill>
            <a:schemeClr val="accent2">
              <a:lumMod val="20000"/>
              <a:lumOff val="80000"/>
            </a:schemeClr>
          </a:solidFill>
        </p:spPr>
        <p:txBody>
          <a:bodyPr/>
          <a:lstStyle/>
          <a:p>
            <a:endParaRPr lang="en-US"/>
          </a:p>
        </p:txBody>
      </p:sp>
      <p:sp>
        <p:nvSpPr>
          <p:cNvPr id="6" name="Picture Placeholder 7">
            <a:extLst>
              <a:ext uri="{FF2B5EF4-FFF2-40B4-BE49-F238E27FC236}">
                <a16:creationId xmlns:a16="http://schemas.microsoft.com/office/drawing/2014/main" id="{5A429DEF-1F3D-46E0-A25E-8BD18E998DD8}"/>
              </a:ext>
            </a:extLst>
          </p:cNvPr>
          <p:cNvSpPr>
            <a:spLocks noGrp="1"/>
          </p:cNvSpPr>
          <p:nvPr>
            <p:ph type="pic" sz="quarter" idx="17"/>
          </p:nvPr>
        </p:nvSpPr>
        <p:spPr>
          <a:xfrm>
            <a:off x="0" y="0"/>
            <a:ext cx="2893178" cy="3429000"/>
          </a:xfrm>
          <a:solidFill>
            <a:schemeClr val="accent2">
              <a:lumMod val="20000"/>
              <a:lumOff val="80000"/>
            </a:schemeClr>
          </a:solidFill>
        </p:spPr>
        <p:txBody>
          <a:bodyPr/>
          <a:lstStyle/>
          <a:p>
            <a:endParaRPr lang="en-US"/>
          </a:p>
        </p:txBody>
      </p:sp>
      <p:sp>
        <p:nvSpPr>
          <p:cNvPr id="7" name="Picture Placeholder 7">
            <a:extLst>
              <a:ext uri="{FF2B5EF4-FFF2-40B4-BE49-F238E27FC236}">
                <a16:creationId xmlns:a16="http://schemas.microsoft.com/office/drawing/2014/main" id="{A2E00EEE-EDEF-40AA-A2E7-04F23CA120B5}"/>
              </a:ext>
            </a:extLst>
          </p:cNvPr>
          <p:cNvSpPr>
            <a:spLocks noGrp="1"/>
          </p:cNvSpPr>
          <p:nvPr>
            <p:ph type="pic" sz="quarter" idx="18"/>
          </p:nvPr>
        </p:nvSpPr>
        <p:spPr>
          <a:xfrm>
            <a:off x="0" y="3429000"/>
            <a:ext cx="2893178" cy="3429000"/>
          </a:xfr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5845841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7F5BD2B6-30D3-472C-9987-F652CBF4358E}"/>
              </a:ext>
            </a:extLst>
          </p:cNvPr>
          <p:cNvSpPr>
            <a:spLocks noGrp="1"/>
          </p:cNvSpPr>
          <p:nvPr>
            <p:ph type="pic" sz="quarter" idx="10"/>
          </p:nvPr>
        </p:nvSpPr>
        <p:spPr>
          <a:xfrm>
            <a:off x="3828928" y="0"/>
            <a:ext cx="6850818" cy="6858000"/>
          </a:xfr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14159780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8901C4-0B77-EFC6-BE13-202D25C89B05}"/>
              </a:ext>
            </a:extLst>
          </p:cNvPr>
          <p:cNvSpPr>
            <a:spLocks noGrp="1"/>
          </p:cNvSpPr>
          <p:nvPr>
            <p:ph type="dt" sz="half" idx="10"/>
          </p:nvPr>
        </p:nvSpPr>
        <p:spPr/>
        <p:txBody>
          <a:bodyPr/>
          <a:lstStyle/>
          <a:p>
            <a:fld id="{3D8CA7D2-70A4-442E-9AE1-393D6D26E091}" type="datetimeFigureOut">
              <a:rPr lang="en-US" smtClean="0"/>
              <a:t>6/16/2026</a:t>
            </a:fld>
            <a:endParaRPr lang="en-US"/>
          </a:p>
        </p:txBody>
      </p:sp>
      <p:sp>
        <p:nvSpPr>
          <p:cNvPr id="3" name="Footer Placeholder 2">
            <a:extLst>
              <a:ext uri="{FF2B5EF4-FFF2-40B4-BE49-F238E27FC236}">
                <a16:creationId xmlns:a16="http://schemas.microsoft.com/office/drawing/2014/main" id="{2B784748-9AC1-8060-62C3-A2559B526E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66BCAF-A405-0B36-8421-ECA37455990B}"/>
              </a:ext>
            </a:extLst>
          </p:cNvPr>
          <p:cNvSpPr>
            <a:spLocks noGrp="1"/>
          </p:cNvSpPr>
          <p:nvPr>
            <p:ph type="sldNum" sz="quarter" idx="12"/>
          </p:nvPr>
        </p:nvSpPr>
        <p:spPr/>
        <p:txBody>
          <a:bodyPr/>
          <a:lstStyle/>
          <a:p>
            <a:fld id="{42BC0EF5-3467-4952-814C-8279F3DD662F}" type="slidenum">
              <a:rPr lang="en-US" smtClean="0"/>
              <a:t>‹#›</a:t>
            </a:fld>
            <a:endParaRPr lang="en-US"/>
          </a:p>
        </p:txBody>
      </p:sp>
    </p:spTree>
    <p:extLst>
      <p:ext uri="{BB962C8B-B14F-4D97-AF65-F5344CB8AC3E}">
        <p14:creationId xmlns:p14="http://schemas.microsoft.com/office/powerpoint/2010/main" val="1392798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F95E18-1C34-489E-956F-D9B0362487F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3B5F38-1039-461C-820B-C0C2B6E92BC3}" type="slidenum">
              <a:rPr lang="en-US" smtClean="0"/>
              <a:t>‹#›</a:t>
            </a:fld>
            <a:endParaRPr lang="en-US"/>
          </a:p>
        </p:txBody>
      </p:sp>
    </p:spTree>
    <p:extLst>
      <p:ext uri="{BB962C8B-B14F-4D97-AF65-F5344CB8AC3E}">
        <p14:creationId xmlns:p14="http://schemas.microsoft.com/office/powerpoint/2010/main" val="9222468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6D64-12F4-4DAD-B5BE-F666C31C87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1A096E-BD3B-454A-8FD0-99DE3CFB4E5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0A4D33-8BC1-4BD1-9B75-1BBF007299AB}"/>
              </a:ext>
            </a:extLst>
          </p:cNvPr>
          <p:cNvSpPr>
            <a:spLocks noGrp="1"/>
          </p:cNvSpPr>
          <p:nvPr>
            <p:ph type="dt" sz="half" idx="10"/>
          </p:nvPr>
        </p:nvSpPr>
        <p:spPr/>
        <p:txBody>
          <a:bodyPr/>
          <a:lstStyle/>
          <a:p>
            <a:fld id="{1A315769-9EA5-474C-8A7C-953FE946BE77}" type="datetimeFigureOut">
              <a:rPr lang="en-US" smtClean="0"/>
              <a:t>6/16/2026</a:t>
            </a:fld>
            <a:endParaRPr lang="en-US"/>
          </a:p>
        </p:txBody>
      </p:sp>
      <p:sp>
        <p:nvSpPr>
          <p:cNvPr id="5" name="Footer Placeholder 4">
            <a:extLst>
              <a:ext uri="{FF2B5EF4-FFF2-40B4-BE49-F238E27FC236}">
                <a16:creationId xmlns:a16="http://schemas.microsoft.com/office/drawing/2014/main" id="{58DFF5BD-6DBC-49FA-86C5-BA1F229253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F224DD-F0AD-4320-8E29-4AFEBC544176}"/>
              </a:ext>
            </a:extLst>
          </p:cNvPr>
          <p:cNvSpPr>
            <a:spLocks noGrp="1"/>
          </p:cNvSpPr>
          <p:nvPr>
            <p:ph type="sldNum" sz="quarter" idx="12"/>
          </p:nvPr>
        </p:nvSpPr>
        <p:spPr/>
        <p:txBody>
          <a:bodyPr/>
          <a:lstStyle/>
          <a:p>
            <a:fld id="{6FFE872D-9F92-4EA9-B265-A621D7985DC7}" type="slidenum">
              <a:rPr lang="en-US" smtClean="0"/>
              <a:t>‹#›</a:t>
            </a:fld>
            <a:endParaRPr lang="en-US"/>
          </a:p>
        </p:txBody>
      </p:sp>
    </p:spTree>
    <p:extLst>
      <p:ext uri="{BB962C8B-B14F-4D97-AF65-F5344CB8AC3E}">
        <p14:creationId xmlns:p14="http://schemas.microsoft.com/office/powerpoint/2010/main" val="3709387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18C222-B7A4-4AF1-882F-9EC69CEECA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B41CA3-EBAE-4244-B91B-815F8720A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3080C-054A-45C1-917C-D0D9F53CD6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AE11D-13A1-497C-B032-6447346D233F}" type="datetimeFigureOut">
              <a:rPr lang="en-US" smtClean="0"/>
              <a:t>6/16/2026</a:t>
            </a:fld>
            <a:endParaRPr lang="en-US"/>
          </a:p>
        </p:txBody>
      </p:sp>
      <p:sp>
        <p:nvSpPr>
          <p:cNvPr id="5" name="Footer Placeholder 4">
            <a:extLst>
              <a:ext uri="{FF2B5EF4-FFF2-40B4-BE49-F238E27FC236}">
                <a16:creationId xmlns:a16="http://schemas.microsoft.com/office/drawing/2014/main" id="{A56632EB-9541-46FF-8933-D006C4CC5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3C5789-BBBE-4E7B-A3DE-485A31E077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C994B6-4A34-4144-8BDD-3FA6C53CDFDD}" type="slidenum">
              <a:rPr lang="en-US" smtClean="0"/>
              <a:t>‹#›</a:t>
            </a:fld>
            <a:endParaRPr lang="en-US"/>
          </a:p>
        </p:txBody>
      </p:sp>
    </p:spTree>
    <p:extLst>
      <p:ext uri="{BB962C8B-B14F-4D97-AF65-F5344CB8AC3E}">
        <p14:creationId xmlns:p14="http://schemas.microsoft.com/office/powerpoint/2010/main" val="2063966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7DD0F0-4652-475E-B7C8-5DE416CC9BCA}" type="datetimeFigureOut">
              <a:rPr lang="en-US" smtClean="0"/>
              <a:t>6/16/2026</a:t>
            </a:fld>
            <a:endParaRPr lang="en-US"/>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5EEE88-6D93-4BBD-8FBF-50B5959BD2C9}" type="slidenum">
              <a:rPr lang="en-US" smtClean="0"/>
              <a:t>‹#›</a:t>
            </a:fld>
            <a:endParaRPr lang="en-US"/>
          </a:p>
        </p:txBody>
      </p:sp>
    </p:spTree>
    <p:extLst>
      <p:ext uri="{BB962C8B-B14F-4D97-AF65-F5344CB8AC3E}">
        <p14:creationId xmlns:p14="http://schemas.microsoft.com/office/powerpoint/2010/main" val="1701878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172"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43" indent="-228543" algn="l" defTabSz="91417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629" indent="-228543" algn="l" defTabSz="91417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15" indent="-228543" algn="l" defTabSz="91417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00"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886"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972"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057"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143"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229"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72" rtl="0" eaLnBrk="1" latinLnBrk="0" hangingPunct="1">
        <a:defRPr sz="1800" kern="1200">
          <a:solidFill>
            <a:schemeClr val="tx1"/>
          </a:solidFill>
          <a:latin typeface="+mn-lt"/>
          <a:ea typeface="+mn-ea"/>
          <a:cs typeface="+mn-cs"/>
        </a:defRPr>
      </a:lvl1pPr>
      <a:lvl2pPr marL="457086" algn="l" defTabSz="914172" rtl="0" eaLnBrk="1" latinLnBrk="0" hangingPunct="1">
        <a:defRPr sz="1800" kern="1200">
          <a:solidFill>
            <a:schemeClr val="tx1"/>
          </a:solidFill>
          <a:latin typeface="+mn-lt"/>
          <a:ea typeface="+mn-ea"/>
          <a:cs typeface="+mn-cs"/>
        </a:defRPr>
      </a:lvl2pPr>
      <a:lvl3pPr marL="914172" algn="l" defTabSz="914172" rtl="0" eaLnBrk="1" latinLnBrk="0" hangingPunct="1">
        <a:defRPr sz="1800" kern="1200">
          <a:solidFill>
            <a:schemeClr val="tx1"/>
          </a:solidFill>
          <a:latin typeface="+mn-lt"/>
          <a:ea typeface="+mn-ea"/>
          <a:cs typeface="+mn-cs"/>
        </a:defRPr>
      </a:lvl3pPr>
      <a:lvl4pPr marL="1371257" algn="l" defTabSz="914172" rtl="0" eaLnBrk="1" latinLnBrk="0" hangingPunct="1">
        <a:defRPr sz="1800" kern="1200">
          <a:solidFill>
            <a:schemeClr val="tx1"/>
          </a:solidFill>
          <a:latin typeface="+mn-lt"/>
          <a:ea typeface="+mn-ea"/>
          <a:cs typeface="+mn-cs"/>
        </a:defRPr>
      </a:lvl4pPr>
      <a:lvl5pPr marL="1828343" algn="l" defTabSz="914172" rtl="0" eaLnBrk="1" latinLnBrk="0" hangingPunct="1">
        <a:defRPr sz="1800" kern="1200">
          <a:solidFill>
            <a:schemeClr val="tx1"/>
          </a:solidFill>
          <a:latin typeface="+mn-lt"/>
          <a:ea typeface="+mn-ea"/>
          <a:cs typeface="+mn-cs"/>
        </a:defRPr>
      </a:lvl5pPr>
      <a:lvl6pPr marL="2285429" algn="l" defTabSz="914172" rtl="0" eaLnBrk="1" latinLnBrk="0" hangingPunct="1">
        <a:defRPr sz="1800" kern="1200">
          <a:solidFill>
            <a:schemeClr val="tx1"/>
          </a:solidFill>
          <a:latin typeface="+mn-lt"/>
          <a:ea typeface="+mn-ea"/>
          <a:cs typeface="+mn-cs"/>
        </a:defRPr>
      </a:lvl6pPr>
      <a:lvl7pPr marL="2742514" algn="l" defTabSz="914172" rtl="0" eaLnBrk="1" latinLnBrk="0" hangingPunct="1">
        <a:defRPr sz="1800" kern="1200">
          <a:solidFill>
            <a:schemeClr val="tx1"/>
          </a:solidFill>
          <a:latin typeface="+mn-lt"/>
          <a:ea typeface="+mn-ea"/>
          <a:cs typeface="+mn-cs"/>
        </a:defRPr>
      </a:lvl7pPr>
      <a:lvl8pPr marL="3199600" algn="l" defTabSz="914172" rtl="0" eaLnBrk="1" latinLnBrk="0" hangingPunct="1">
        <a:defRPr sz="1800" kern="1200">
          <a:solidFill>
            <a:schemeClr val="tx1"/>
          </a:solidFill>
          <a:latin typeface="+mn-lt"/>
          <a:ea typeface="+mn-ea"/>
          <a:cs typeface="+mn-cs"/>
        </a:defRPr>
      </a:lvl8pPr>
      <a:lvl9pPr marL="3656686" algn="l" defTabSz="914172"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F95E18-1C34-489E-956F-D9B0362487FF}" type="datetimeFigureOut">
              <a:rPr lang="en-US" smtClean="0"/>
              <a:t>6/16/2026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3B5F38-1039-461C-820B-C0C2B6E92BC3}" type="slidenum">
              <a:rPr lang="en-US" smtClean="0"/>
              <a:t>‹#›</a:t>
            </a:fld>
            <a:endParaRPr lang="en-US"/>
          </a:p>
        </p:txBody>
      </p:sp>
    </p:spTree>
    <p:extLst>
      <p:ext uri="{BB962C8B-B14F-4D97-AF65-F5344CB8AC3E}">
        <p14:creationId xmlns:p14="http://schemas.microsoft.com/office/powerpoint/2010/main" val="4186933642"/>
      </p:ext>
    </p:extLst>
  </p:cSld>
  <p:clrMap bg1="dk1" tx1="lt1" bg2="dk2" tx2="lt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1CDD40-5096-4AB6-A479-63BE3A2872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68267A-4906-46B4-97E5-8CD5537F09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2BA92D-C689-4B0D-8F68-BD48D1BDF9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315769-9EA5-474C-8A7C-953FE946BE77}" type="datetimeFigureOut">
              <a:rPr lang="en-US" smtClean="0"/>
              <a:t>6/16/2026</a:t>
            </a:fld>
            <a:endParaRPr lang="en-US"/>
          </a:p>
        </p:txBody>
      </p:sp>
      <p:sp>
        <p:nvSpPr>
          <p:cNvPr id="5" name="Footer Placeholder 4">
            <a:extLst>
              <a:ext uri="{FF2B5EF4-FFF2-40B4-BE49-F238E27FC236}">
                <a16:creationId xmlns:a16="http://schemas.microsoft.com/office/drawing/2014/main" id="{EA9A480B-12CA-4993-BFE9-7AADB4233B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8CAB36-4772-47BD-A53C-3B8F793591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FE872D-9F92-4EA9-B265-A621D7985DC7}" type="slidenum">
              <a:rPr lang="en-US" smtClean="0"/>
              <a:t>‹#›</a:t>
            </a:fld>
            <a:endParaRPr lang="en-US"/>
          </a:p>
        </p:txBody>
      </p:sp>
    </p:spTree>
    <p:extLst>
      <p:ext uri="{BB962C8B-B14F-4D97-AF65-F5344CB8AC3E}">
        <p14:creationId xmlns:p14="http://schemas.microsoft.com/office/powerpoint/2010/main" val="2991401140"/>
      </p:ext>
    </p:extLst>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AFC15A-9347-455D-A214-A10C97E4C8E8}"/>
              </a:ext>
            </a:extLst>
          </p:cNvPr>
          <p:cNvSpPr/>
          <p:nvPr/>
        </p:nvSpPr>
        <p:spPr>
          <a:xfrm>
            <a:off x="-2" y="5267148"/>
            <a:ext cx="12192002" cy="1590852"/>
          </a:xfrm>
          <a:prstGeom prst="rect">
            <a:avLst/>
          </a:prstGeom>
          <a:solidFill>
            <a:srgbClr val="349A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03F45C2-37CE-4A09-BF05-B5005C238669}"/>
              </a:ext>
            </a:extLst>
          </p:cNvPr>
          <p:cNvGrpSpPr/>
          <p:nvPr/>
        </p:nvGrpSpPr>
        <p:grpSpPr>
          <a:xfrm>
            <a:off x="-2" y="0"/>
            <a:ext cx="5836598" cy="5294199"/>
            <a:chOff x="-1" y="1947707"/>
            <a:chExt cx="4294909" cy="3689828"/>
          </a:xfrm>
        </p:grpSpPr>
        <p:sp>
          <p:nvSpPr>
            <p:cNvPr id="9" name="Rectangle 8">
              <a:extLst>
                <a:ext uri="{FF2B5EF4-FFF2-40B4-BE49-F238E27FC236}">
                  <a16:creationId xmlns:a16="http://schemas.microsoft.com/office/drawing/2014/main" id="{62A111B1-AAFF-4FEF-A341-F087245F58A7}"/>
                </a:ext>
              </a:extLst>
            </p:cNvPr>
            <p:cNvSpPr/>
            <p:nvPr/>
          </p:nvSpPr>
          <p:spPr>
            <a:xfrm>
              <a:off x="-1" y="1947707"/>
              <a:ext cx="2054399" cy="3689827"/>
            </a:xfrm>
            <a:prstGeom prst="rect">
              <a:avLst/>
            </a:prstGeom>
            <a:solidFill>
              <a:srgbClr val="002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93C6BCB-742B-4F3B-B272-0C83DFFB9E7D}"/>
                </a:ext>
              </a:extLst>
            </p:cNvPr>
            <p:cNvSpPr/>
            <p:nvPr/>
          </p:nvSpPr>
          <p:spPr>
            <a:xfrm>
              <a:off x="1974719" y="1961237"/>
              <a:ext cx="2320189" cy="3676298"/>
            </a:xfrm>
            <a:prstGeom prst="rect">
              <a:avLst/>
            </a:prstGeom>
            <a:gradFill>
              <a:gsLst>
                <a:gs pos="0">
                  <a:srgbClr val="002D5B"/>
                </a:gs>
                <a:gs pos="100000">
                  <a:srgbClr val="002D5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D6DCB4F3-A7E9-49D8-80E7-B0BE9C03B40D}"/>
              </a:ext>
            </a:extLst>
          </p:cNvPr>
          <p:cNvSpPr/>
          <p:nvPr/>
        </p:nvSpPr>
        <p:spPr>
          <a:xfrm>
            <a:off x="2365096" y="-13525"/>
            <a:ext cx="4033007" cy="5294198"/>
          </a:xfrm>
          <a:prstGeom prst="rect">
            <a:avLst/>
          </a:prstGeom>
          <a:solidFill>
            <a:srgbClr val="002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86813A6-6FBA-43E5-A94B-14C71AA51922}"/>
              </a:ext>
            </a:extLst>
          </p:cNvPr>
          <p:cNvSpPr txBox="1">
            <a:spLocks/>
          </p:cNvSpPr>
          <p:nvPr/>
        </p:nvSpPr>
        <p:spPr>
          <a:xfrm>
            <a:off x="679058" y="2135430"/>
            <a:ext cx="4862485" cy="129357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n-US" sz="4400" b="0" i="0" u="none" strike="noStrike" kern="1200" cap="none" spc="0" normalizeH="0" baseline="0" noProof="0" dirty="0">
                <a:ln>
                  <a:noFill/>
                </a:ln>
                <a:solidFill>
                  <a:schemeClr val="bg1"/>
                </a:solidFill>
                <a:effectLst/>
                <a:uLnTx/>
                <a:uFillTx/>
                <a:latin typeface="AlternateGothic2 BT"/>
              </a:rPr>
              <a:t>Recruiting Conversations</a:t>
            </a:r>
          </a:p>
        </p:txBody>
      </p:sp>
      <p:pic>
        <p:nvPicPr>
          <p:cNvPr id="1028" name="Picture 4" descr="3,600+ Recruitment Agency Stock Illustrations, Royalty-Free Vector Graphics  &amp; Clip Art - iStock | Human resources, Employment agency, Recruitment  consultant">
            <a:extLst>
              <a:ext uri="{FF2B5EF4-FFF2-40B4-BE49-F238E27FC236}">
                <a16:creationId xmlns:a16="http://schemas.microsoft.com/office/drawing/2014/main" id="{2317F0FA-9C5D-1A83-5BC8-B97D5E9BC6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256" y="370373"/>
            <a:ext cx="5240813" cy="4572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70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BC51A-BBE7-9701-A96F-396D8F85DEB9}"/>
            </a:ext>
          </a:extLst>
        </p:cNvPr>
        <p:cNvGrpSpPr/>
        <p:nvPr/>
      </p:nvGrpSpPr>
      <p:grpSpPr>
        <a:xfrm>
          <a:off x="0" y="0"/>
          <a:ext cx="0" cy="0"/>
          <a:chOff x="0" y="0"/>
          <a:chExt cx="0" cy="0"/>
        </a:xfrm>
      </p:grpSpPr>
      <p:pic>
        <p:nvPicPr>
          <p:cNvPr id="5122" name="Picture 2" descr="17,600+ Archery Target Stock Illustrations, Royalty-Free ...">
            <a:extLst>
              <a:ext uri="{FF2B5EF4-FFF2-40B4-BE49-F238E27FC236}">
                <a16:creationId xmlns:a16="http://schemas.microsoft.com/office/drawing/2014/main" id="{C9399FAB-C429-B0F5-82AA-54CAEF58B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09" y="735703"/>
            <a:ext cx="3471544" cy="347154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alendar Transparent Images - Free Download on Freepik">
            <a:extLst>
              <a:ext uri="{FF2B5EF4-FFF2-40B4-BE49-F238E27FC236}">
                <a16:creationId xmlns:a16="http://schemas.microsoft.com/office/drawing/2014/main" id="{2C5E25F0-4DC1-E56C-893F-5E8BDA05A1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057" y="2972599"/>
            <a:ext cx="2834958" cy="232774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a:extLst>
              <a:ext uri="{FF2B5EF4-FFF2-40B4-BE49-F238E27FC236}">
                <a16:creationId xmlns:a16="http://schemas.microsoft.com/office/drawing/2014/main" id="{ED4E64E2-19D7-73D4-3258-CC6AECBD16C8}"/>
              </a:ext>
            </a:extLst>
          </p:cNvPr>
          <p:cNvSpPr txBox="1">
            <a:spLocks/>
          </p:cNvSpPr>
          <p:nvPr/>
        </p:nvSpPr>
        <p:spPr>
          <a:xfrm>
            <a:off x="4974751" y="514589"/>
            <a:ext cx="6883495" cy="58288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u="sng" dirty="0">
                <a:solidFill>
                  <a:srgbClr val="002D5B"/>
                </a:solidFill>
                <a:latin typeface="-apple-system"/>
              </a:rPr>
              <a:t>Objectives For Today</a:t>
            </a:r>
            <a:endParaRPr lang="en-US" dirty="0">
              <a:solidFill>
                <a:srgbClr val="002D5B"/>
              </a:solidFill>
            </a:endParaRPr>
          </a:p>
          <a:p>
            <a:pPr algn="ctr"/>
            <a:r>
              <a:rPr lang="en-US" sz="3200" dirty="0">
                <a:solidFill>
                  <a:srgbClr val="002D5B"/>
                </a:solidFill>
              </a:rPr>
              <a:t>Identify what you need to know from the salesperson prior to recruiting on a role.</a:t>
            </a:r>
          </a:p>
          <a:p>
            <a:pPr algn="ctr"/>
            <a:r>
              <a:rPr lang="en-US" sz="3200" dirty="0">
                <a:solidFill>
                  <a:srgbClr val="002D5B"/>
                </a:solidFill>
              </a:rPr>
              <a:t>Understand how to effectively introduce yourself on a candidate call.</a:t>
            </a:r>
          </a:p>
          <a:p>
            <a:pPr algn="ctr"/>
            <a:r>
              <a:rPr lang="en-US" sz="3200" dirty="0">
                <a:solidFill>
                  <a:srgbClr val="002D5B"/>
                </a:solidFill>
              </a:rPr>
              <a:t>Learn the most effective questions to ask candidates to assess skills, experience, and cultural fit.</a:t>
            </a:r>
          </a:p>
          <a:p>
            <a:pPr algn="ctr"/>
            <a:r>
              <a:rPr lang="en-US" sz="3200" dirty="0">
                <a:solidFill>
                  <a:srgbClr val="002D5B"/>
                </a:solidFill>
              </a:rPr>
              <a:t>Review best practices to conduct thorough interviews.</a:t>
            </a:r>
          </a:p>
        </p:txBody>
      </p:sp>
    </p:spTree>
    <p:extLst>
      <p:ext uri="{BB962C8B-B14F-4D97-AF65-F5344CB8AC3E}">
        <p14:creationId xmlns:p14="http://schemas.microsoft.com/office/powerpoint/2010/main" val="331227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1060-5D7B-BD7D-8F18-7FC5318F032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5801E7-A629-7397-E40A-1649F6C42191}"/>
              </a:ext>
            </a:extLst>
          </p:cNvPr>
          <p:cNvSpPr/>
          <p:nvPr/>
        </p:nvSpPr>
        <p:spPr>
          <a:xfrm>
            <a:off x="1292679" y="326567"/>
            <a:ext cx="9606641" cy="1159333"/>
          </a:xfrm>
          <a:prstGeom prst="rect">
            <a:avLst/>
          </a:prstGeom>
          <a:solidFill>
            <a:srgbClr val="002D5B"/>
          </a:solidFill>
          <a:ln w="7620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First Thing’s First: Understand The REQ</a:t>
            </a:r>
          </a:p>
        </p:txBody>
      </p:sp>
      <p:sp>
        <p:nvSpPr>
          <p:cNvPr id="4" name="TextBox 3">
            <a:extLst>
              <a:ext uri="{FF2B5EF4-FFF2-40B4-BE49-F238E27FC236}">
                <a16:creationId xmlns:a16="http://schemas.microsoft.com/office/drawing/2014/main" id="{4B948A2F-9AD4-434D-398D-64E318210CCC}"/>
              </a:ext>
            </a:extLst>
          </p:cNvPr>
          <p:cNvSpPr txBox="1"/>
          <p:nvPr/>
        </p:nvSpPr>
        <p:spPr>
          <a:xfrm>
            <a:off x="1088572" y="1714500"/>
            <a:ext cx="6389913" cy="646331"/>
          </a:xfrm>
          <a:prstGeom prst="rect">
            <a:avLst/>
          </a:prstGeom>
          <a:noFill/>
        </p:spPr>
        <p:txBody>
          <a:bodyPr wrap="square" rtlCol="0">
            <a:spAutoFit/>
          </a:bodyPr>
          <a:lstStyle/>
          <a:p>
            <a:pPr marL="285750" indent="-285750">
              <a:buFont typeface="Arial" panose="020B0604020202020204" pitchFamily="34" charset="0"/>
              <a:buChar char="•"/>
            </a:pPr>
            <a:endParaRPr lang="en-US"/>
          </a:p>
          <a:p>
            <a:endParaRPr lang="en-US"/>
          </a:p>
        </p:txBody>
      </p:sp>
      <p:pic>
        <p:nvPicPr>
          <p:cNvPr id="2052" name="Picture 4" descr="6,100+ Easy To Understand Stock Illustrations, Royalty-Free Vector Graphics  &amp; Clip Art - iStock | Easy to understand vector">
            <a:extLst>
              <a:ext uri="{FF2B5EF4-FFF2-40B4-BE49-F238E27FC236}">
                <a16:creationId xmlns:a16="http://schemas.microsoft.com/office/drawing/2014/main" id="{1055D7CF-F299-5783-9FB2-BC6BA2006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5814" y="2199409"/>
            <a:ext cx="9840369" cy="3730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410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4E7D7-D9B6-C334-083D-C357976293E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030ABAF1-C4D4-2477-8F2E-566670DC941D}"/>
              </a:ext>
            </a:extLst>
          </p:cNvPr>
          <p:cNvSpPr/>
          <p:nvPr/>
        </p:nvSpPr>
        <p:spPr>
          <a:xfrm>
            <a:off x="116923" y="1477100"/>
            <a:ext cx="2432313" cy="2368992"/>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FAFC"/>
                </a:solidFill>
                <a:latin typeface="Sabon Next LT"/>
              </a:rPr>
              <a:t>Client Specifics</a:t>
            </a:r>
            <a:endParaRPr kumimoji="0" lang="en-US" sz="3200" b="0" i="0" u="none" strike="noStrike" kern="1200" cap="none" spc="0" normalizeH="0" baseline="0" noProof="0" dirty="0">
              <a:ln>
                <a:noFill/>
              </a:ln>
              <a:solidFill>
                <a:srgbClr val="FFFAFC"/>
              </a:solidFill>
              <a:effectLst/>
              <a:uLnTx/>
              <a:uFillTx/>
              <a:latin typeface="Sabon Next LT"/>
              <a:ea typeface="+mn-ea"/>
              <a:cs typeface="+mn-cs"/>
            </a:endParaRPr>
          </a:p>
        </p:txBody>
      </p:sp>
      <p:sp>
        <p:nvSpPr>
          <p:cNvPr id="22" name="Rectangle 21">
            <a:extLst>
              <a:ext uri="{FF2B5EF4-FFF2-40B4-BE49-F238E27FC236}">
                <a16:creationId xmlns:a16="http://schemas.microsoft.com/office/drawing/2014/main" id="{5608826E-B53C-9F55-E4B6-5C99153F12A8}"/>
              </a:ext>
            </a:extLst>
          </p:cNvPr>
          <p:cNvSpPr/>
          <p:nvPr/>
        </p:nvSpPr>
        <p:spPr>
          <a:xfrm>
            <a:off x="2073742" y="330150"/>
            <a:ext cx="8457227" cy="975291"/>
          </a:xfrm>
          <a:prstGeom prst="rect">
            <a:avLst/>
          </a:prstGeom>
          <a:solidFill>
            <a:srgbClr val="002D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DFAF6"/>
                </a:solidFill>
                <a:effectLst/>
                <a:uLnTx/>
                <a:uFillTx/>
                <a:latin typeface="Sabon Next LT"/>
                <a:ea typeface="+mn-ea"/>
                <a:cs typeface="+mn-cs"/>
              </a:rPr>
              <a:t>Prior To Recruiting…</a:t>
            </a:r>
          </a:p>
        </p:txBody>
      </p:sp>
      <p:sp>
        <p:nvSpPr>
          <p:cNvPr id="3" name="Oval 2">
            <a:extLst>
              <a:ext uri="{FF2B5EF4-FFF2-40B4-BE49-F238E27FC236}">
                <a16:creationId xmlns:a16="http://schemas.microsoft.com/office/drawing/2014/main" id="{A1854564-3F19-36F9-EA45-21388F77B437}"/>
              </a:ext>
            </a:extLst>
          </p:cNvPr>
          <p:cNvSpPr/>
          <p:nvPr/>
        </p:nvSpPr>
        <p:spPr>
          <a:xfrm>
            <a:off x="3296541" y="1477100"/>
            <a:ext cx="2432313" cy="2368994"/>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AFC"/>
                </a:solidFill>
                <a:effectLst/>
                <a:uLnTx/>
                <a:uFillTx/>
                <a:latin typeface="Sabon Next LT"/>
                <a:ea typeface="+mn-ea"/>
                <a:cs typeface="+mn-cs"/>
              </a:rPr>
              <a:t>Job Day-To-Day</a:t>
            </a:r>
          </a:p>
        </p:txBody>
      </p:sp>
      <p:sp>
        <p:nvSpPr>
          <p:cNvPr id="4" name="Oval 3">
            <a:extLst>
              <a:ext uri="{FF2B5EF4-FFF2-40B4-BE49-F238E27FC236}">
                <a16:creationId xmlns:a16="http://schemas.microsoft.com/office/drawing/2014/main" id="{59F2BD84-4DA2-9012-E63E-C920DAA39992}"/>
              </a:ext>
            </a:extLst>
          </p:cNvPr>
          <p:cNvSpPr/>
          <p:nvPr/>
        </p:nvSpPr>
        <p:spPr>
          <a:xfrm>
            <a:off x="6463146" y="1463379"/>
            <a:ext cx="2432314" cy="238271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AFC"/>
                </a:solidFill>
                <a:effectLst/>
                <a:uLnTx/>
                <a:uFillTx/>
                <a:latin typeface="Sabon Next LT"/>
                <a:ea typeface="+mn-ea"/>
                <a:cs typeface="+mn-cs"/>
              </a:rPr>
              <a:t>Required and Nice-To-Have Skills/ Certs</a:t>
            </a:r>
          </a:p>
        </p:txBody>
      </p:sp>
      <p:sp>
        <p:nvSpPr>
          <p:cNvPr id="6" name="Oval 5">
            <a:extLst>
              <a:ext uri="{FF2B5EF4-FFF2-40B4-BE49-F238E27FC236}">
                <a16:creationId xmlns:a16="http://schemas.microsoft.com/office/drawing/2014/main" id="{A3C19E49-5B55-3579-8F78-0678772E8F09}"/>
              </a:ext>
            </a:extLst>
          </p:cNvPr>
          <p:cNvSpPr/>
          <p:nvPr/>
        </p:nvSpPr>
        <p:spPr>
          <a:xfrm>
            <a:off x="9629752" y="1477098"/>
            <a:ext cx="2432313" cy="235527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AFC"/>
                </a:solidFill>
                <a:effectLst/>
                <a:uLnTx/>
                <a:uFillTx/>
                <a:latin typeface="Sabon Next LT"/>
              </a:rPr>
              <a:t>Location (On</a:t>
            </a:r>
            <a:r>
              <a:rPr kumimoji="0" lang="en-US" sz="3000" b="0" i="0" u="none" strike="noStrike" kern="1200" cap="none" spc="0" normalizeH="0" noProof="0" dirty="0">
                <a:ln>
                  <a:noFill/>
                </a:ln>
                <a:solidFill>
                  <a:srgbClr val="FFFAFC"/>
                </a:solidFill>
                <a:effectLst/>
                <a:uLnTx/>
                <a:uFillTx/>
                <a:latin typeface="Sabon Next LT"/>
              </a:rPr>
              <a:t> Site, Remote, Hybrid)</a:t>
            </a:r>
            <a:endParaRPr kumimoji="0" lang="en-US" sz="3000" b="0" i="0" u="none" strike="noStrike" kern="1200" cap="none" spc="0" normalizeH="0" baseline="0" noProof="0" dirty="0">
              <a:ln>
                <a:noFill/>
              </a:ln>
              <a:solidFill>
                <a:srgbClr val="FFFAFC"/>
              </a:solidFill>
              <a:effectLst/>
              <a:uLnTx/>
              <a:uFillTx/>
              <a:latin typeface="Sabon Next LT"/>
            </a:endParaRPr>
          </a:p>
        </p:txBody>
      </p:sp>
      <p:sp>
        <p:nvSpPr>
          <p:cNvPr id="7" name="Oval 6">
            <a:extLst>
              <a:ext uri="{FF2B5EF4-FFF2-40B4-BE49-F238E27FC236}">
                <a16:creationId xmlns:a16="http://schemas.microsoft.com/office/drawing/2014/main" id="{CA3A1F66-E1AF-8AC1-219D-8DCE35E20195}"/>
              </a:ext>
            </a:extLst>
          </p:cNvPr>
          <p:cNvSpPr/>
          <p:nvPr/>
        </p:nvSpPr>
        <p:spPr>
          <a:xfrm>
            <a:off x="1764512" y="4017751"/>
            <a:ext cx="2432314" cy="238271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FFFAFC"/>
                </a:solidFill>
                <a:latin typeface="Sabon Next LT"/>
              </a:rPr>
              <a:t>Rate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FFFAFC"/>
                </a:solidFill>
                <a:latin typeface="Sabon Next LT"/>
              </a:rPr>
              <a:t>Mark Up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FFFAFC"/>
                </a:solidFill>
                <a:latin typeface="Sabon Next LT"/>
              </a:rPr>
              <a:t>Pricing</a:t>
            </a:r>
            <a:endParaRPr kumimoji="0" lang="en-US" sz="2800" b="0" i="0" u="none" strike="noStrike" kern="1200" cap="none" spc="0" normalizeH="0" baseline="0" noProof="0" dirty="0">
              <a:ln>
                <a:noFill/>
              </a:ln>
              <a:solidFill>
                <a:srgbClr val="FFFAFC"/>
              </a:solidFill>
              <a:effectLst/>
              <a:uLnTx/>
              <a:uFillTx/>
              <a:latin typeface="Sabon Next LT"/>
              <a:ea typeface="+mn-ea"/>
              <a:cs typeface="+mn-cs"/>
            </a:endParaRPr>
          </a:p>
        </p:txBody>
      </p:sp>
      <p:sp>
        <p:nvSpPr>
          <p:cNvPr id="2" name="Oval 1">
            <a:extLst>
              <a:ext uri="{FF2B5EF4-FFF2-40B4-BE49-F238E27FC236}">
                <a16:creationId xmlns:a16="http://schemas.microsoft.com/office/drawing/2014/main" id="{B0CEC1C3-4F81-BE5A-B0E9-CC10A8498E08}"/>
              </a:ext>
            </a:extLst>
          </p:cNvPr>
          <p:cNvSpPr/>
          <p:nvPr/>
        </p:nvSpPr>
        <p:spPr>
          <a:xfrm>
            <a:off x="8098655" y="4017751"/>
            <a:ext cx="2432314" cy="238271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solidFill>
                  <a:srgbClr val="FFFAFC"/>
                </a:solidFill>
                <a:latin typeface="Sabon Next LT"/>
              </a:rPr>
              <a:t>W2, IC, 3</a:t>
            </a:r>
            <a:r>
              <a:rPr lang="en-US" sz="2800" baseline="30000" dirty="0">
                <a:solidFill>
                  <a:srgbClr val="FFFAFC"/>
                </a:solidFill>
                <a:latin typeface="Sabon Next LT"/>
              </a:rPr>
              <a:t>rd</a:t>
            </a:r>
            <a:r>
              <a:rPr lang="en-US" sz="2800" dirty="0">
                <a:solidFill>
                  <a:srgbClr val="FFFAFC"/>
                </a:solidFill>
                <a:latin typeface="Sabon Next LT"/>
              </a:rPr>
              <a:t> Party, Travel</a:t>
            </a:r>
            <a:endParaRPr kumimoji="0" lang="en-US" sz="2800" b="0" i="0" u="none" strike="noStrike" kern="1200" cap="none" spc="0" normalizeH="0" baseline="0" noProof="0" dirty="0">
              <a:ln>
                <a:noFill/>
              </a:ln>
              <a:solidFill>
                <a:srgbClr val="FFFAFC"/>
              </a:solidFill>
              <a:effectLst/>
              <a:uLnTx/>
              <a:uFillTx/>
              <a:latin typeface="Sabon Next LT"/>
              <a:ea typeface="+mn-ea"/>
              <a:cs typeface="+mn-cs"/>
            </a:endParaRPr>
          </a:p>
        </p:txBody>
      </p:sp>
      <p:sp>
        <p:nvSpPr>
          <p:cNvPr id="8" name="Oval 7">
            <a:extLst>
              <a:ext uri="{FF2B5EF4-FFF2-40B4-BE49-F238E27FC236}">
                <a16:creationId xmlns:a16="http://schemas.microsoft.com/office/drawing/2014/main" id="{A57633F0-F643-AC1E-D2C0-3A73AC09BFAC}"/>
              </a:ext>
            </a:extLst>
          </p:cNvPr>
          <p:cNvSpPr/>
          <p:nvPr/>
        </p:nvSpPr>
        <p:spPr>
          <a:xfrm>
            <a:off x="4879843" y="4017751"/>
            <a:ext cx="2432314" cy="238271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dirty="0">
                <a:solidFill>
                  <a:srgbClr val="FFFAFC"/>
                </a:solidFill>
                <a:latin typeface="Sabon Next LT"/>
              </a:rPr>
              <a:t>How To Submit/ Rules Of Engagement</a:t>
            </a:r>
            <a:endParaRPr kumimoji="0" lang="en-US" sz="2300" b="0" i="0" u="none" strike="noStrike" kern="1200" cap="none" spc="0" normalizeH="0" baseline="0" noProof="0" dirty="0">
              <a:ln>
                <a:noFill/>
              </a:ln>
              <a:solidFill>
                <a:srgbClr val="FFFAFC"/>
              </a:solidFill>
              <a:effectLst/>
              <a:uLnTx/>
              <a:uFillTx/>
              <a:latin typeface="Sabon Next LT"/>
            </a:endParaRPr>
          </a:p>
        </p:txBody>
      </p:sp>
    </p:spTree>
    <p:extLst>
      <p:ext uri="{BB962C8B-B14F-4D97-AF65-F5344CB8AC3E}">
        <p14:creationId xmlns:p14="http://schemas.microsoft.com/office/powerpoint/2010/main" val="81837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P spid="6" grpId="0" animBg="1"/>
      <p:bldP spid="7" grpId="0" animBg="1"/>
      <p:bldP spid="2"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DB6B-2107-C814-F16F-F2BC655859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2F6F00-27EF-2E5D-47F6-03D7D17FE1FC}"/>
              </a:ext>
            </a:extLst>
          </p:cNvPr>
          <p:cNvSpPr/>
          <p:nvPr/>
        </p:nvSpPr>
        <p:spPr>
          <a:xfrm>
            <a:off x="1292679" y="326567"/>
            <a:ext cx="9606641" cy="1159333"/>
          </a:xfrm>
          <a:prstGeom prst="rect">
            <a:avLst/>
          </a:prstGeom>
          <a:solidFill>
            <a:srgbClr val="002D5B"/>
          </a:solidFill>
          <a:ln w="7620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Good Qualifying Questions For AE</a:t>
            </a:r>
          </a:p>
        </p:txBody>
      </p:sp>
      <p:sp>
        <p:nvSpPr>
          <p:cNvPr id="4" name="TextBox 3">
            <a:extLst>
              <a:ext uri="{FF2B5EF4-FFF2-40B4-BE49-F238E27FC236}">
                <a16:creationId xmlns:a16="http://schemas.microsoft.com/office/drawing/2014/main" id="{D8AF6249-273C-5E25-E695-0231E2950D09}"/>
              </a:ext>
            </a:extLst>
          </p:cNvPr>
          <p:cNvSpPr txBox="1"/>
          <p:nvPr/>
        </p:nvSpPr>
        <p:spPr>
          <a:xfrm>
            <a:off x="1088572" y="1714500"/>
            <a:ext cx="6389913" cy="646331"/>
          </a:xfrm>
          <a:prstGeom prst="rect">
            <a:avLst/>
          </a:prstGeom>
          <a:noFill/>
        </p:spPr>
        <p:txBody>
          <a:bodyPr wrap="square" rtlCol="0">
            <a:spAutoFit/>
          </a:bodyPr>
          <a:lstStyle/>
          <a:p>
            <a:pPr marL="285750" indent="-285750">
              <a:buFont typeface="Arial" panose="020B0604020202020204" pitchFamily="34" charset="0"/>
              <a:buChar char="•"/>
            </a:pPr>
            <a:endParaRPr lang="en-US"/>
          </a:p>
          <a:p>
            <a:endParaRPr lang="en-US"/>
          </a:p>
        </p:txBody>
      </p:sp>
      <p:pic>
        <p:nvPicPr>
          <p:cNvPr id="2050" name="Picture 2">
            <a:extLst>
              <a:ext uri="{FF2B5EF4-FFF2-40B4-BE49-F238E27FC236}">
                <a16:creationId xmlns:a16="http://schemas.microsoft.com/office/drawing/2014/main" id="{3FE47148-2941-0674-BC97-AC1954B65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63881" y="2037665"/>
            <a:ext cx="3857501" cy="38575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90FB694-674C-41A1-84D3-E8D0567EA0BC}"/>
              </a:ext>
            </a:extLst>
          </p:cNvPr>
          <p:cNvSpPr txBox="1"/>
          <p:nvPr/>
        </p:nvSpPr>
        <p:spPr>
          <a:xfrm>
            <a:off x="5243945" y="1955585"/>
            <a:ext cx="6698673" cy="2677656"/>
          </a:xfrm>
          <a:prstGeom prst="rect">
            <a:avLst/>
          </a:prstGeom>
          <a:noFill/>
        </p:spPr>
        <p:txBody>
          <a:bodyPr wrap="square">
            <a:spAutoFit/>
          </a:bodyPr>
          <a:lstStyle/>
          <a:p>
            <a:pPr marL="457200" indent="-457200">
              <a:buFont typeface="Arial" panose="020B0604020202020204" pitchFamily="34" charset="0"/>
              <a:buChar char="•"/>
            </a:pPr>
            <a:r>
              <a:rPr lang="en-US" sz="2800" dirty="0"/>
              <a:t>What does the ideal candidate look like? </a:t>
            </a:r>
          </a:p>
          <a:p>
            <a:pPr marL="457200" indent="-457200">
              <a:buFont typeface="Arial" panose="020B0604020202020204" pitchFamily="34" charset="0"/>
              <a:buChar char="•"/>
            </a:pPr>
            <a:r>
              <a:rPr lang="en-US" sz="2800" dirty="0"/>
              <a:t>What will put someone over the top? </a:t>
            </a:r>
          </a:p>
          <a:p>
            <a:pPr marL="457200" indent="-457200">
              <a:buFont typeface="Arial" panose="020B0604020202020204" pitchFamily="34" charset="0"/>
              <a:buChar char="•"/>
            </a:pPr>
            <a:r>
              <a:rPr lang="en-US" sz="2800" dirty="0"/>
              <a:t>Have we made placements here before? Who? </a:t>
            </a:r>
          </a:p>
          <a:p>
            <a:pPr marL="457200" indent="-457200">
              <a:buFont typeface="Arial" panose="020B0604020202020204" pitchFamily="34" charset="0"/>
              <a:buChar char="•"/>
            </a:pPr>
            <a:r>
              <a:rPr lang="en-US" sz="2800" dirty="0"/>
              <a:t>Why is this role open? </a:t>
            </a:r>
          </a:p>
          <a:p>
            <a:pPr marL="457200" indent="-457200">
              <a:buFont typeface="Arial" panose="020B0604020202020204" pitchFamily="34" charset="0"/>
              <a:buChar char="•"/>
            </a:pPr>
            <a:r>
              <a:rPr lang="en-US" sz="2800" dirty="0"/>
              <a:t>What is the interview process?</a:t>
            </a:r>
          </a:p>
        </p:txBody>
      </p:sp>
      <p:sp>
        <p:nvSpPr>
          <p:cNvPr id="7" name="Rectangle 6">
            <a:extLst>
              <a:ext uri="{FF2B5EF4-FFF2-40B4-BE49-F238E27FC236}">
                <a16:creationId xmlns:a16="http://schemas.microsoft.com/office/drawing/2014/main" id="{3C071895-BCFA-88F5-958C-6AD1481502C4}"/>
              </a:ext>
            </a:extLst>
          </p:cNvPr>
          <p:cNvSpPr/>
          <p:nvPr/>
        </p:nvSpPr>
        <p:spPr>
          <a:xfrm>
            <a:off x="5140036" y="1714501"/>
            <a:ext cx="6802582" cy="3142126"/>
          </a:xfrm>
          <a:prstGeom prst="rect">
            <a:avLst/>
          </a:prstGeom>
          <a:noFill/>
          <a:ln w="698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4DEB775-5303-5D65-E63A-E857A8EBD458}"/>
              </a:ext>
            </a:extLst>
          </p:cNvPr>
          <p:cNvSpPr/>
          <p:nvPr/>
        </p:nvSpPr>
        <p:spPr>
          <a:xfrm>
            <a:off x="5140036" y="5097711"/>
            <a:ext cx="6802582" cy="1420909"/>
          </a:xfrm>
          <a:prstGeom prst="rect">
            <a:avLst/>
          </a:prstGeom>
          <a:noFill/>
          <a:ln w="698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6F882E1-6DC8-CD19-5760-A8493CFC62B7}"/>
              </a:ext>
            </a:extLst>
          </p:cNvPr>
          <p:cNvSpPr txBox="1"/>
          <p:nvPr/>
        </p:nvSpPr>
        <p:spPr>
          <a:xfrm>
            <a:off x="5243945" y="5097711"/>
            <a:ext cx="6802581" cy="1661993"/>
          </a:xfrm>
          <a:prstGeom prst="rect">
            <a:avLst/>
          </a:prstGeom>
          <a:noFill/>
        </p:spPr>
        <p:txBody>
          <a:bodyPr wrap="square">
            <a:spAutoFit/>
          </a:bodyPr>
          <a:lstStyle/>
          <a:p>
            <a:r>
              <a:rPr lang="en-US" sz="2800" dirty="0"/>
              <a:t>Pro Tips:</a:t>
            </a:r>
          </a:p>
          <a:p>
            <a:pPr marL="457200" indent="-457200">
              <a:buFont typeface="Arial" panose="020B0604020202020204" pitchFamily="34" charset="0"/>
              <a:buChar char="•"/>
            </a:pPr>
            <a:r>
              <a:rPr lang="en-US" sz="2800" dirty="0"/>
              <a:t>If you don’t understand something- </a:t>
            </a:r>
            <a:r>
              <a:rPr lang="en-US" sz="2800" u="sng" dirty="0"/>
              <a:t>ASK!</a:t>
            </a:r>
          </a:p>
          <a:p>
            <a:pPr marL="457200" indent="-457200">
              <a:buFont typeface="Arial" panose="020B0604020202020204" pitchFamily="34" charset="0"/>
              <a:buChar char="•"/>
            </a:pPr>
            <a:r>
              <a:rPr lang="en-US" sz="2800" dirty="0"/>
              <a:t>Repeat it back to the AE at the end</a:t>
            </a:r>
          </a:p>
          <a:p>
            <a:endParaRPr lang="en-US" sz="1800" dirty="0"/>
          </a:p>
        </p:txBody>
      </p:sp>
    </p:spTree>
    <p:extLst>
      <p:ext uri="{BB962C8B-B14F-4D97-AF65-F5344CB8AC3E}">
        <p14:creationId xmlns:p14="http://schemas.microsoft.com/office/powerpoint/2010/main" val="196899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3327939-A0D4-4748-B55B-D0AF8470067B}"/>
              </a:ext>
            </a:extLst>
          </p:cNvPr>
          <p:cNvSpPr/>
          <p:nvPr/>
        </p:nvSpPr>
        <p:spPr>
          <a:xfrm>
            <a:off x="0" y="0"/>
            <a:ext cx="5685692" cy="6858000"/>
          </a:xfrm>
          <a:prstGeom prst="rect">
            <a:avLst/>
          </a:prstGeom>
          <a:solidFill>
            <a:srgbClr val="002060"/>
          </a:solid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D5B"/>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B9B22F-5DFE-42A3-9D49-14EB2EDA8B09}"/>
              </a:ext>
            </a:extLst>
          </p:cNvPr>
          <p:cNvSpPr>
            <a:spLocks noGrp="1"/>
          </p:cNvSpPr>
          <p:nvPr>
            <p:ph type="title"/>
          </p:nvPr>
        </p:nvSpPr>
        <p:spPr>
          <a:xfrm>
            <a:off x="63993" y="511640"/>
            <a:ext cx="5557706" cy="1325563"/>
          </a:xfrm>
        </p:spPr>
        <p:txBody>
          <a:bodyPr/>
          <a:lstStyle/>
          <a:p>
            <a:pPr algn="ctr"/>
            <a:r>
              <a:rPr lang="en-US" dirty="0">
                <a:solidFill>
                  <a:schemeClr val="bg1"/>
                </a:solidFill>
                <a:latin typeface="Calibri"/>
                <a:cs typeface="Calibri"/>
              </a:rPr>
              <a:t>Be Prepared!</a:t>
            </a:r>
          </a:p>
        </p:txBody>
      </p:sp>
      <p:sp>
        <p:nvSpPr>
          <p:cNvPr id="7" name="TextBox 6">
            <a:extLst>
              <a:ext uri="{FF2B5EF4-FFF2-40B4-BE49-F238E27FC236}">
                <a16:creationId xmlns:a16="http://schemas.microsoft.com/office/drawing/2014/main" id="{54EB5CE1-C58B-4398-A42A-2A7DCAC56EF2}"/>
              </a:ext>
            </a:extLst>
          </p:cNvPr>
          <p:cNvSpPr txBox="1"/>
          <p:nvPr/>
        </p:nvSpPr>
        <p:spPr>
          <a:xfrm>
            <a:off x="354555" y="2228671"/>
            <a:ext cx="4976581" cy="30469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Calibri" panose="020F0502020204030204"/>
                <a:ea typeface="+mn-ea"/>
                <a:cs typeface="+mn-cs"/>
              </a:rPr>
              <a:t>LET’S BRAINSTORM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srgbClr val="FFFFFF"/>
                </a:solidFill>
                <a:effectLst/>
                <a:uLnTx/>
                <a:uFillTx/>
                <a:latin typeface="Calibri" panose="020F0502020204030204"/>
                <a:ea typeface="+mn-ea"/>
                <a:cs typeface="+mn-cs"/>
              </a:rPr>
              <a:t>What are some things we can do to prepare before the initial interview with a candidate…..</a:t>
            </a:r>
          </a:p>
        </p:txBody>
      </p:sp>
      <p:pic>
        <p:nvPicPr>
          <p:cNvPr id="1026" name="Picture 2" descr="See the source image">
            <a:extLst>
              <a:ext uri="{FF2B5EF4-FFF2-40B4-BE49-F238E27FC236}">
                <a16:creationId xmlns:a16="http://schemas.microsoft.com/office/drawing/2014/main" id="{F03FDE20-4C94-C79F-8D85-F2E44865B3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310" y="1039761"/>
            <a:ext cx="4775158" cy="4778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10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241FB05-B442-4413-B017-2880639EA9A0}"/>
              </a:ext>
            </a:extLst>
          </p:cNvPr>
          <p:cNvSpPr/>
          <p:nvPr/>
        </p:nvSpPr>
        <p:spPr>
          <a:xfrm>
            <a:off x="0" y="0"/>
            <a:ext cx="4560280" cy="6858000"/>
          </a:xfrm>
          <a:prstGeom prst="rect">
            <a:avLst/>
          </a:prstGeom>
          <a:solidFill>
            <a:srgbClr val="002060"/>
          </a:solid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 name="Content Placeholder 2">
            <a:extLst>
              <a:ext uri="{FF2B5EF4-FFF2-40B4-BE49-F238E27FC236}">
                <a16:creationId xmlns:a16="http://schemas.microsoft.com/office/drawing/2014/main" id="{C95EB6F3-8E26-4B40-B796-313DFD239912}"/>
              </a:ext>
            </a:extLst>
          </p:cNvPr>
          <p:cNvSpPr>
            <a:spLocks noGrp="1"/>
          </p:cNvSpPr>
          <p:nvPr>
            <p:ph idx="1"/>
          </p:nvPr>
        </p:nvSpPr>
        <p:spPr>
          <a:xfrm>
            <a:off x="4880969" y="252311"/>
            <a:ext cx="7105878" cy="5886641"/>
          </a:xfrm>
        </p:spPr>
        <p:txBody>
          <a:bodyPr>
            <a:noAutofit/>
          </a:bodyPr>
          <a:lstStyle/>
          <a:p>
            <a:r>
              <a:rPr lang="en-US" dirty="0"/>
              <a:t>Build rapport</a:t>
            </a:r>
          </a:p>
          <a:p>
            <a:r>
              <a:rPr lang="en-US" dirty="0"/>
              <a:t>Understand/get to know the person</a:t>
            </a:r>
          </a:p>
          <a:p>
            <a:r>
              <a:rPr lang="en-US" dirty="0"/>
              <a:t>What are their “hot buttons”- what do they WANT</a:t>
            </a:r>
          </a:p>
          <a:p>
            <a:r>
              <a:rPr lang="en-US" dirty="0"/>
              <a:t>Where are their skills, strengths and expertise (technical or discipline/setting/specialty)</a:t>
            </a:r>
          </a:p>
          <a:p>
            <a:r>
              <a:rPr lang="en-US" dirty="0"/>
              <a:t>Ask open ended questions and do 40% or less of the talking</a:t>
            </a:r>
          </a:p>
          <a:p>
            <a:r>
              <a:rPr lang="en-US" dirty="0"/>
              <a:t>Figure out how to best present this candidate to a hiring manager and/or </a:t>
            </a:r>
            <a:r>
              <a:rPr lang="en-US" dirty="0" err="1"/>
              <a:t>promarket</a:t>
            </a:r>
            <a:r>
              <a:rPr lang="en-US" dirty="0"/>
              <a:t> the candidate</a:t>
            </a:r>
          </a:p>
          <a:p>
            <a:r>
              <a:rPr lang="en-US" dirty="0"/>
              <a:t>Tackle any red flags in the first call</a:t>
            </a:r>
          </a:p>
          <a:p>
            <a:r>
              <a:rPr lang="en-US" dirty="0"/>
              <a:t>Know their availability for follow up, interviewing, starting</a:t>
            </a:r>
          </a:p>
        </p:txBody>
      </p:sp>
      <p:sp>
        <p:nvSpPr>
          <p:cNvPr id="6" name="TextBox 5">
            <a:extLst>
              <a:ext uri="{FF2B5EF4-FFF2-40B4-BE49-F238E27FC236}">
                <a16:creationId xmlns:a16="http://schemas.microsoft.com/office/drawing/2014/main" id="{4B109B06-42F3-4DB2-9099-A7A2DA466DDB}"/>
              </a:ext>
            </a:extLst>
          </p:cNvPr>
          <p:cNvSpPr txBox="1"/>
          <p:nvPr/>
        </p:nvSpPr>
        <p:spPr>
          <a:xfrm>
            <a:off x="205153" y="1869868"/>
            <a:ext cx="4149973" cy="329320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Calibri" panose="020F0502020204030204"/>
                <a:ea typeface="+mn-ea"/>
                <a:cs typeface="+mn-cs"/>
              </a:rPr>
              <a:t>What </a:t>
            </a:r>
            <a:r>
              <a:rPr lang="en-US" sz="4000" dirty="0">
                <a:solidFill>
                  <a:srgbClr val="FFFFFF"/>
                </a:solidFill>
                <a:latin typeface="Calibri" panose="020F0502020204030204"/>
              </a:rPr>
              <a:t>does a good candidate conversation</a:t>
            </a:r>
            <a:r>
              <a:rPr kumimoji="0" lang="en-US" sz="4000" b="0" i="0" u="none" strike="noStrike" kern="1200" cap="none" spc="0" normalizeH="0" baseline="0" noProof="0" dirty="0">
                <a:ln>
                  <a:noFill/>
                </a:ln>
                <a:solidFill>
                  <a:srgbClr val="FFFFFF"/>
                </a:solidFill>
                <a:effectLst/>
                <a:uLnTx/>
                <a:uFillTx/>
                <a:latin typeface="Calibri" panose="020F0502020204030204"/>
                <a:ea typeface="+mn-ea"/>
                <a:cs typeface="+mn-cs"/>
              </a:rPr>
              <a:t> accomplish?</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2D5B"/>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655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9FF8AC-014E-453D-A44C-8C9886E0855E}"/>
              </a:ext>
            </a:extLst>
          </p:cNvPr>
          <p:cNvSpPr/>
          <p:nvPr/>
        </p:nvSpPr>
        <p:spPr>
          <a:xfrm>
            <a:off x="-2" y="0"/>
            <a:ext cx="12192002" cy="1590852"/>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54168E5E-899C-4927-90D9-0623EAC4F3AD}"/>
              </a:ext>
            </a:extLst>
          </p:cNvPr>
          <p:cNvSpPr txBox="1"/>
          <p:nvPr/>
        </p:nvSpPr>
        <p:spPr>
          <a:xfrm>
            <a:off x="954931" y="409378"/>
            <a:ext cx="10282136"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First Impressions </a:t>
            </a:r>
          </a:p>
        </p:txBody>
      </p:sp>
      <p:sp>
        <p:nvSpPr>
          <p:cNvPr id="10" name="Rectangle 9">
            <a:extLst>
              <a:ext uri="{FF2B5EF4-FFF2-40B4-BE49-F238E27FC236}">
                <a16:creationId xmlns:a16="http://schemas.microsoft.com/office/drawing/2014/main" id="{BD85FD4F-6337-4BC8-AA5B-E245F116AF85}"/>
              </a:ext>
            </a:extLst>
          </p:cNvPr>
          <p:cNvSpPr/>
          <p:nvPr/>
        </p:nvSpPr>
        <p:spPr>
          <a:xfrm>
            <a:off x="-2" y="6418005"/>
            <a:ext cx="12192002" cy="439995"/>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Words That Describe a First Impression">
            <a:extLst>
              <a:ext uri="{FF2B5EF4-FFF2-40B4-BE49-F238E27FC236}">
                <a16:creationId xmlns:a16="http://schemas.microsoft.com/office/drawing/2014/main" id="{490CF3E0-666A-F7AE-9871-71B973A333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38"/>
            <a:ext cx="12192000" cy="684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8206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963D8B4-EBA1-482D-B73B-DB9863650918}"/>
              </a:ext>
            </a:extLst>
          </p:cNvPr>
          <p:cNvSpPr/>
          <p:nvPr/>
        </p:nvSpPr>
        <p:spPr>
          <a:xfrm>
            <a:off x="0" y="0"/>
            <a:ext cx="12192002" cy="1325563"/>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D5B"/>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F6015BDD-F0B4-46CD-8E03-01C232C720DA}"/>
              </a:ext>
            </a:extLst>
          </p:cNvPr>
          <p:cNvSpPr/>
          <p:nvPr/>
        </p:nvSpPr>
        <p:spPr>
          <a:xfrm>
            <a:off x="-2" y="6506308"/>
            <a:ext cx="12192002" cy="351692"/>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D5B"/>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58D71434-DA6B-450F-8846-9E1754C27C58}"/>
              </a:ext>
            </a:extLst>
          </p:cNvPr>
          <p:cNvSpPr>
            <a:spLocks noGrp="1"/>
          </p:cNvSpPr>
          <p:nvPr>
            <p:ph type="title"/>
          </p:nvPr>
        </p:nvSpPr>
        <p:spPr>
          <a:xfrm>
            <a:off x="838199" y="0"/>
            <a:ext cx="10515600" cy="1325563"/>
          </a:xfrm>
        </p:spPr>
        <p:txBody>
          <a:bodyPr/>
          <a:lstStyle/>
          <a:p>
            <a:pPr algn="ctr"/>
            <a:r>
              <a:rPr lang="en-US" dirty="0">
                <a:solidFill>
                  <a:schemeClr val="bg1"/>
                </a:solidFill>
                <a:latin typeface="Calibri"/>
                <a:cs typeface="Calibri"/>
              </a:rPr>
              <a:t>Introducing Yourself And Mitchell Martin</a:t>
            </a:r>
          </a:p>
        </p:txBody>
      </p:sp>
      <p:sp>
        <p:nvSpPr>
          <p:cNvPr id="8" name="Content Placeholder 2">
            <a:extLst>
              <a:ext uri="{FF2B5EF4-FFF2-40B4-BE49-F238E27FC236}">
                <a16:creationId xmlns:a16="http://schemas.microsoft.com/office/drawing/2014/main" id="{CDD968FE-B667-4719-BFFE-724947BB433B}"/>
              </a:ext>
            </a:extLst>
          </p:cNvPr>
          <p:cNvSpPr>
            <a:spLocks noGrp="1"/>
          </p:cNvSpPr>
          <p:nvPr>
            <p:ph idx="1"/>
          </p:nvPr>
        </p:nvSpPr>
        <p:spPr>
          <a:xfrm>
            <a:off x="6248402" y="1847947"/>
            <a:ext cx="5734960" cy="3912225"/>
          </a:xfrm>
        </p:spPr>
        <p:txBody>
          <a:bodyPr vert="horz" lIns="91440" tIns="45720" rIns="91440" bIns="45720" rtlCol="0" anchor="ctr">
            <a:normAutofit/>
          </a:bodyPr>
          <a:lstStyle/>
          <a:p>
            <a:pPr algn="just"/>
            <a:r>
              <a:rPr lang="en-US" sz="3600" dirty="0">
                <a:cs typeface="Calibri"/>
              </a:rPr>
              <a:t>Who you are</a:t>
            </a:r>
          </a:p>
          <a:p>
            <a:pPr algn="just"/>
            <a:r>
              <a:rPr lang="en-US" sz="3600" dirty="0">
                <a:cs typeface="Calibri"/>
              </a:rPr>
              <a:t>Why you are calling</a:t>
            </a:r>
          </a:p>
          <a:p>
            <a:pPr algn="just"/>
            <a:r>
              <a:rPr lang="en-US" sz="3600" dirty="0">
                <a:cs typeface="Calibri"/>
              </a:rPr>
              <a:t>What value you can add to the candidate</a:t>
            </a:r>
          </a:p>
          <a:p>
            <a:pPr algn="just"/>
            <a:r>
              <a:rPr lang="en-US" sz="3600" dirty="0">
                <a:cs typeface="Calibri"/>
              </a:rPr>
              <a:t>THEN- DWS</a:t>
            </a:r>
            <a:endParaRPr lang="en-US" sz="2000" dirty="0">
              <a:cs typeface="Calibri"/>
            </a:endParaRPr>
          </a:p>
        </p:txBody>
      </p:sp>
      <p:pic>
        <p:nvPicPr>
          <p:cNvPr id="2050" name="Picture 2">
            <a:extLst>
              <a:ext uri="{FF2B5EF4-FFF2-40B4-BE49-F238E27FC236}">
                <a16:creationId xmlns:a16="http://schemas.microsoft.com/office/drawing/2014/main" id="{E25EDC98-0729-3F73-13BC-7C956681A0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973" r="5973"/>
          <a:stretch/>
        </p:blipFill>
        <p:spPr bwMode="auto">
          <a:xfrm>
            <a:off x="245806" y="2189112"/>
            <a:ext cx="5697794" cy="3229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842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9BEA7F-BB50-4E24-9DBD-90922B095CF3}"/>
              </a:ext>
            </a:extLst>
          </p:cNvPr>
          <p:cNvSpPr/>
          <p:nvPr/>
        </p:nvSpPr>
        <p:spPr>
          <a:xfrm>
            <a:off x="0" y="0"/>
            <a:ext cx="12192002" cy="1430215"/>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D5B"/>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F53EA287-6F84-4268-8384-D4E08A16DB9A}"/>
              </a:ext>
            </a:extLst>
          </p:cNvPr>
          <p:cNvSpPr/>
          <p:nvPr/>
        </p:nvSpPr>
        <p:spPr>
          <a:xfrm>
            <a:off x="-2" y="6506308"/>
            <a:ext cx="12192002" cy="351692"/>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D5B"/>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C790C9D3-A321-40D7-9E4B-9912023A1925}"/>
              </a:ext>
            </a:extLst>
          </p:cNvPr>
          <p:cNvSpPr/>
          <p:nvPr/>
        </p:nvSpPr>
        <p:spPr>
          <a:xfrm>
            <a:off x="2776885" y="299608"/>
            <a:ext cx="6801734"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alibri" panose="020F0502020204030204"/>
                <a:ea typeface="+mn-ea"/>
                <a:cs typeface="+mn-cs"/>
              </a:rPr>
              <a:t>Opening Questions to Ask:</a:t>
            </a:r>
          </a:p>
        </p:txBody>
      </p:sp>
      <p:sp>
        <p:nvSpPr>
          <p:cNvPr id="7" name="Rectangle 6">
            <a:extLst>
              <a:ext uri="{FF2B5EF4-FFF2-40B4-BE49-F238E27FC236}">
                <a16:creationId xmlns:a16="http://schemas.microsoft.com/office/drawing/2014/main" id="{EB4EDB68-7F2E-4CAB-AA6D-58FAB3568BF6}"/>
              </a:ext>
            </a:extLst>
          </p:cNvPr>
          <p:cNvSpPr/>
          <p:nvPr/>
        </p:nvSpPr>
        <p:spPr>
          <a:xfrm>
            <a:off x="679939" y="2019066"/>
            <a:ext cx="6399734" cy="3046988"/>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002D5B"/>
                </a:solidFill>
                <a:effectLst/>
                <a:uLnTx/>
                <a:uFillTx/>
                <a:latin typeface="Calibri" panose="020F0502020204030204"/>
                <a:ea typeface="+mn-ea"/>
                <a:cs typeface="+mn-cs"/>
              </a:rPr>
              <a:t>What brings you to the job market?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002D5B"/>
                </a:solidFill>
                <a:effectLst/>
                <a:uLnTx/>
                <a:uFillTx/>
                <a:latin typeface="Calibri" panose="020F0502020204030204"/>
                <a:ea typeface="+mn-ea"/>
                <a:cs typeface="+mn-cs"/>
              </a:rPr>
              <a:t>I notice you are currently working for </a:t>
            </a:r>
            <a:r>
              <a:rPr kumimoji="0" lang="en-US" sz="3200" b="0" i="1" u="none" strike="noStrike" kern="1200" cap="none" spc="0" normalizeH="0" baseline="0" noProof="0" dirty="0">
                <a:ln>
                  <a:noFill/>
                </a:ln>
                <a:solidFill>
                  <a:srgbClr val="002D5B"/>
                </a:solidFill>
                <a:effectLst/>
                <a:uLnTx/>
                <a:uFillTx/>
                <a:latin typeface="Calibri" panose="020F0502020204030204"/>
                <a:ea typeface="+mn-ea"/>
                <a:cs typeface="+mn-cs"/>
              </a:rPr>
              <a:t>XYZ.  </a:t>
            </a:r>
            <a:r>
              <a:rPr kumimoji="0" lang="en-US" sz="3200" b="0" i="0" u="none" strike="noStrike" kern="1200" cap="none" spc="0" normalizeH="0" baseline="0" noProof="0" dirty="0">
                <a:ln>
                  <a:noFill/>
                </a:ln>
                <a:solidFill>
                  <a:srgbClr val="002D5B"/>
                </a:solidFill>
                <a:effectLst/>
                <a:uLnTx/>
                <a:uFillTx/>
                <a:latin typeface="Calibri" panose="020F0502020204030204"/>
                <a:ea typeface="+mn-ea"/>
                <a:cs typeface="+mn-cs"/>
              </a:rPr>
              <a:t>What’s causing you to look for a new opportunity?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002D5B"/>
                </a:solidFill>
                <a:effectLst/>
                <a:uLnTx/>
                <a:uFillTx/>
                <a:latin typeface="Calibri" panose="020F0502020204030204"/>
                <a:ea typeface="+mn-ea"/>
                <a:cs typeface="+mn-cs"/>
              </a:rPr>
              <a:t>Are you actively or passively looking for something new? </a:t>
            </a:r>
          </a:p>
        </p:txBody>
      </p:sp>
      <p:pic>
        <p:nvPicPr>
          <p:cNvPr id="9" name="Picture 8">
            <a:extLst>
              <a:ext uri="{FF2B5EF4-FFF2-40B4-BE49-F238E27FC236}">
                <a16:creationId xmlns:a16="http://schemas.microsoft.com/office/drawing/2014/main" id="{4FACFEB6-73B7-D83D-D072-6DE093CA1C32}"/>
              </a:ext>
            </a:extLst>
          </p:cNvPr>
          <p:cNvPicPr>
            <a:picLocks noChangeAspect="1"/>
          </p:cNvPicPr>
          <p:nvPr/>
        </p:nvPicPr>
        <p:blipFill>
          <a:blip r:embed="rId3"/>
          <a:stretch>
            <a:fillRect/>
          </a:stretch>
        </p:blipFill>
        <p:spPr>
          <a:xfrm>
            <a:off x="7584731" y="2187716"/>
            <a:ext cx="3679014" cy="320213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631904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E67709C-CC65-44E6-BD96-D4FA2B244720}"/>
              </a:ext>
            </a:extLst>
          </p:cNvPr>
          <p:cNvSpPr/>
          <p:nvPr/>
        </p:nvSpPr>
        <p:spPr>
          <a:xfrm>
            <a:off x="0" y="0"/>
            <a:ext cx="12192002" cy="1430215"/>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What Do You Want GIFs | Tenor">
            <a:extLst>
              <a:ext uri="{FF2B5EF4-FFF2-40B4-BE49-F238E27FC236}">
                <a16:creationId xmlns:a16="http://schemas.microsoft.com/office/drawing/2014/main" id="{DC7F1ED8-B706-4746-9FAE-906A23F260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1716" y="2388333"/>
            <a:ext cx="6180427" cy="261791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39A78EE-44F2-4526-8F79-0311AE66AC20}"/>
              </a:ext>
            </a:extLst>
          </p:cNvPr>
          <p:cNvSpPr/>
          <p:nvPr/>
        </p:nvSpPr>
        <p:spPr>
          <a:xfrm>
            <a:off x="1585823" y="299608"/>
            <a:ext cx="9020354" cy="830997"/>
          </a:xfrm>
          <a:prstGeom prst="rect">
            <a:avLst/>
          </a:prstGeom>
        </p:spPr>
        <p:txBody>
          <a:bodyPr wrap="none">
            <a:spAutoFit/>
          </a:bodyPr>
          <a:lstStyle/>
          <a:p>
            <a:r>
              <a:rPr lang="en-US" sz="4800" dirty="0">
                <a:solidFill>
                  <a:schemeClr val="bg1"/>
                </a:solidFill>
              </a:rPr>
              <a:t>Key To Your Candidate: Hot Buttons</a:t>
            </a:r>
          </a:p>
        </p:txBody>
      </p:sp>
      <p:sp>
        <p:nvSpPr>
          <p:cNvPr id="7" name="Content Placeholder 9">
            <a:extLst>
              <a:ext uri="{FF2B5EF4-FFF2-40B4-BE49-F238E27FC236}">
                <a16:creationId xmlns:a16="http://schemas.microsoft.com/office/drawing/2014/main" id="{2D0EAC4D-EE15-44BB-8B1B-9CCFB20D34E5}"/>
              </a:ext>
            </a:extLst>
          </p:cNvPr>
          <p:cNvSpPr>
            <a:spLocks noGrp="1"/>
          </p:cNvSpPr>
          <p:nvPr>
            <p:ph idx="1"/>
          </p:nvPr>
        </p:nvSpPr>
        <p:spPr>
          <a:xfrm>
            <a:off x="619857" y="1863677"/>
            <a:ext cx="4541857" cy="4091938"/>
          </a:xfrm>
        </p:spPr>
        <p:txBody>
          <a:bodyPr>
            <a:normAutofit/>
          </a:bodyPr>
          <a:lstStyle/>
          <a:p>
            <a:r>
              <a:rPr lang="en-US" dirty="0"/>
              <a:t>Compensation</a:t>
            </a:r>
          </a:p>
          <a:p>
            <a:r>
              <a:rPr lang="en-US" dirty="0"/>
              <a:t>Remote/On Site</a:t>
            </a:r>
          </a:p>
          <a:p>
            <a:r>
              <a:rPr lang="en-US" dirty="0"/>
              <a:t>Location/commute</a:t>
            </a:r>
          </a:p>
          <a:p>
            <a:r>
              <a:rPr lang="en-US" dirty="0"/>
              <a:t>Work-Life Balance</a:t>
            </a:r>
          </a:p>
          <a:p>
            <a:r>
              <a:rPr lang="en-US" dirty="0"/>
              <a:t>Manager/People They Work With</a:t>
            </a:r>
          </a:p>
          <a:p>
            <a:r>
              <a:rPr lang="en-US" dirty="0"/>
              <a:t>Job Function and Responsibilities</a:t>
            </a:r>
          </a:p>
        </p:txBody>
      </p:sp>
      <p:sp>
        <p:nvSpPr>
          <p:cNvPr id="8" name="Rectangle 7">
            <a:extLst>
              <a:ext uri="{FF2B5EF4-FFF2-40B4-BE49-F238E27FC236}">
                <a16:creationId xmlns:a16="http://schemas.microsoft.com/office/drawing/2014/main" id="{E1198348-6F08-44E7-A1C9-9A960FA3144B}"/>
              </a:ext>
            </a:extLst>
          </p:cNvPr>
          <p:cNvSpPr/>
          <p:nvPr/>
        </p:nvSpPr>
        <p:spPr>
          <a:xfrm>
            <a:off x="0" y="6389077"/>
            <a:ext cx="12192002" cy="468923"/>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0481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C6B683-9170-938B-F37E-155D6E270622}"/>
              </a:ext>
            </a:extLst>
          </p:cNvPr>
          <p:cNvSpPr>
            <a:spLocks noGrp="1"/>
          </p:cNvSpPr>
          <p:nvPr>
            <p:ph idx="1"/>
          </p:nvPr>
        </p:nvSpPr>
        <p:spPr>
          <a:xfrm>
            <a:off x="-101613" y="417786"/>
            <a:ext cx="4498353" cy="6668814"/>
          </a:xfrm>
        </p:spPr>
        <p:txBody>
          <a:bodyPr>
            <a:normAutofit/>
          </a:bodyPr>
          <a:lstStyle/>
          <a:p>
            <a:pPr lvl="1"/>
            <a:r>
              <a:rPr lang="en-US" sz="3200" dirty="0"/>
              <a:t>Validate: Name, address, phone, email, preferred method of contact</a:t>
            </a:r>
          </a:p>
          <a:p>
            <a:pPr lvl="1"/>
            <a:r>
              <a:rPr lang="en-US" sz="3200" dirty="0"/>
              <a:t>Best hours to reach them</a:t>
            </a:r>
          </a:p>
          <a:p>
            <a:pPr lvl="1"/>
            <a:r>
              <a:rPr lang="en-US" sz="3200" dirty="0"/>
              <a:t>Current Title/Role</a:t>
            </a:r>
          </a:p>
          <a:p>
            <a:pPr lvl="1"/>
            <a:r>
              <a:rPr lang="en-US" sz="3200" dirty="0"/>
              <a:t>Years of experience</a:t>
            </a:r>
          </a:p>
          <a:p>
            <a:pPr lvl="1"/>
            <a:r>
              <a:rPr lang="en-US" sz="3200" dirty="0"/>
              <a:t>Certifications</a:t>
            </a:r>
          </a:p>
          <a:p>
            <a:pPr lvl="1"/>
            <a:r>
              <a:rPr lang="en-US" sz="3200" dirty="0"/>
              <a:t>IT- “Are you currently authorized to work for any employer in the United States?”</a:t>
            </a:r>
          </a:p>
        </p:txBody>
      </p:sp>
      <p:sp>
        <p:nvSpPr>
          <p:cNvPr id="3081" name="Rectangle 308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8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6" name="Picture 4" descr="Single word of ??who?? write on blackboard.">
            <a:extLst>
              <a:ext uri="{FF2B5EF4-FFF2-40B4-BE49-F238E27FC236}">
                <a16:creationId xmlns:a16="http://schemas.microsoft.com/office/drawing/2014/main" id="{76AF9BDB-62A5-68DF-F577-95BFB7D240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802"/>
          <a:stretch/>
        </p:blipFill>
        <p:spPr bwMode="auto">
          <a:xfrm>
            <a:off x="5405862" y="1253730"/>
            <a:ext cx="6019331" cy="3964656"/>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038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C6B683-9170-938B-F37E-155D6E270622}"/>
              </a:ext>
            </a:extLst>
          </p:cNvPr>
          <p:cNvSpPr>
            <a:spLocks noGrp="1"/>
          </p:cNvSpPr>
          <p:nvPr>
            <p:ph idx="1"/>
          </p:nvPr>
        </p:nvSpPr>
        <p:spPr>
          <a:xfrm>
            <a:off x="648931" y="2438400"/>
            <a:ext cx="3505494" cy="3785419"/>
          </a:xfrm>
        </p:spPr>
        <p:txBody>
          <a:bodyPr>
            <a:normAutofit/>
          </a:bodyPr>
          <a:lstStyle/>
          <a:p>
            <a:pPr marL="457200" lvl="1" indent="0">
              <a:buNone/>
            </a:pPr>
            <a:endParaRPr lang="en-US" sz="2000" dirty="0"/>
          </a:p>
          <a:p>
            <a:pPr lvl="1"/>
            <a:endParaRPr lang="en-US" sz="2000" dirty="0"/>
          </a:p>
        </p:txBody>
      </p:sp>
      <p:sp>
        <p:nvSpPr>
          <p:cNvPr id="4103" name="Rectangle 4102">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05"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098" name="Picture 2" descr="Crying Cat Meme - Know When You Should Use It? The Canine Buddy">
            <a:extLst>
              <a:ext uri="{FF2B5EF4-FFF2-40B4-BE49-F238E27FC236}">
                <a16:creationId xmlns:a16="http://schemas.microsoft.com/office/drawing/2014/main" id="{C30295DA-79B8-B6B2-7BBD-2628044951C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1731932"/>
            <a:ext cx="6019331" cy="3390889"/>
          </a:xfrm>
          <a:prstGeom prst="rect">
            <a:avLst/>
          </a:prstGeom>
          <a:noFill/>
          <a:effectLst/>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43AE36E4-045F-CC19-E25F-122C2023C352}"/>
              </a:ext>
            </a:extLst>
          </p:cNvPr>
          <p:cNvSpPr txBox="1">
            <a:spLocks/>
          </p:cNvSpPr>
          <p:nvPr/>
        </p:nvSpPr>
        <p:spPr>
          <a:xfrm>
            <a:off x="-101613" y="756902"/>
            <a:ext cx="4498353" cy="53409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Discuss: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USE IF/THEN QUESTIONS!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What they want in a new opportunity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Desired Rate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Contract, </a:t>
            </a:r>
            <a:r>
              <a:rPr lang="en-US" sz="3200" dirty="0">
                <a:solidFill>
                  <a:prstClr val="black"/>
                </a:solidFill>
                <a:latin typeface="Calibri" panose="020F0502020204030204"/>
              </a:rPr>
              <a:t>contract</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to hire, full time?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Needs vs. Wants</a:t>
            </a:r>
          </a:p>
          <a:p>
            <a:pPr marL="914400" marR="0" lvl="2"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914400" marR="0" lvl="2"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914400" marR="0" lvl="2"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387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C6B683-9170-938B-F37E-155D6E270622}"/>
              </a:ext>
            </a:extLst>
          </p:cNvPr>
          <p:cNvSpPr>
            <a:spLocks noGrp="1"/>
          </p:cNvSpPr>
          <p:nvPr>
            <p:ph idx="1"/>
          </p:nvPr>
        </p:nvSpPr>
        <p:spPr>
          <a:xfrm>
            <a:off x="648931" y="2438400"/>
            <a:ext cx="3505494" cy="3785419"/>
          </a:xfrm>
        </p:spPr>
        <p:txBody>
          <a:bodyPr>
            <a:normAutofit/>
          </a:bodyPr>
          <a:lstStyle/>
          <a:p>
            <a:pPr marL="457200" lvl="1" indent="0">
              <a:buNone/>
            </a:pPr>
            <a:endParaRPr lang="en-US" sz="2000" dirty="0"/>
          </a:p>
          <a:p>
            <a:pPr lvl="1"/>
            <a:endParaRPr lang="en-US" sz="2000" dirty="0"/>
          </a:p>
        </p:txBody>
      </p:sp>
      <p:sp>
        <p:nvSpPr>
          <p:cNvPr id="4103" name="Rectangle 4102">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05"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2">
            <a:extLst>
              <a:ext uri="{FF2B5EF4-FFF2-40B4-BE49-F238E27FC236}">
                <a16:creationId xmlns:a16="http://schemas.microsoft.com/office/drawing/2014/main" id="{43AE36E4-045F-CC19-E25F-122C2023C352}"/>
              </a:ext>
            </a:extLst>
          </p:cNvPr>
          <p:cNvSpPr txBox="1">
            <a:spLocks/>
          </p:cNvSpPr>
          <p:nvPr/>
        </p:nvSpPr>
        <p:spPr>
          <a:xfrm>
            <a:off x="-101613" y="634181"/>
            <a:ext cx="4498353" cy="59244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Location: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Where do they live?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Where is the role?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Realistic commute- Google maps!</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Opportunities: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Where else have they been submitted?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Where else have they interviewed?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Where are they in their decision-making process?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LEADS, LEADS, LEADS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122" name="Picture 2" descr="Ask where. &quot;where&quot; 3d text surrounded by question marks. part of a series.">
            <a:extLst>
              <a:ext uri="{FF2B5EF4-FFF2-40B4-BE49-F238E27FC236}">
                <a16:creationId xmlns:a16="http://schemas.microsoft.com/office/drawing/2014/main" id="{679077CD-2EAA-329D-DFCC-FC968A0058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319"/>
          <a:stretch/>
        </p:blipFill>
        <p:spPr bwMode="auto">
          <a:xfrm>
            <a:off x="5635454" y="1615965"/>
            <a:ext cx="5536687" cy="3626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974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05"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2">
            <a:extLst>
              <a:ext uri="{FF2B5EF4-FFF2-40B4-BE49-F238E27FC236}">
                <a16:creationId xmlns:a16="http://schemas.microsoft.com/office/drawing/2014/main" id="{43AE36E4-045F-CC19-E25F-122C2023C352}"/>
              </a:ext>
            </a:extLst>
          </p:cNvPr>
          <p:cNvSpPr txBox="1">
            <a:spLocks/>
          </p:cNvSpPr>
          <p:nvPr/>
        </p:nvSpPr>
        <p:spPr>
          <a:xfrm>
            <a:off x="0" y="1594104"/>
            <a:ext cx="4498353" cy="5924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can they start?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can they interview?</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Get specifics here!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Do they need to put in a notice?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Are they taking any time off? </a:t>
            </a:r>
          </a:p>
        </p:txBody>
      </p:sp>
      <p:pic>
        <p:nvPicPr>
          <p:cNvPr id="7170" name="Picture 2" descr="Ways to Convert M4B Audiobooks to MP3 - All2MP3 for Mac - Free MP3 ...">
            <a:extLst>
              <a:ext uri="{FF2B5EF4-FFF2-40B4-BE49-F238E27FC236}">
                <a16:creationId xmlns:a16="http://schemas.microsoft.com/office/drawing/2014/main" id="{750E0F52-9D55-9C05-71CD-729D5389B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047923"/>
            <a:ext cx="4762153" cy="4762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086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C6B683-9170-938B-F37E-155D6E270622}"/>
              </a:ext>
            </a:extLst>
          </p:cNvPr>
          <p:cNvSpPr>
            <a:spLocks noGrp="1"/>
          </p:cNvSpPr>
          <p:nvPr>
            <p:ph idx="1"/>
          </p:nvPr>
        </p:nvSpPr>
        <p:spPr>
          <a:xfrm>
            <a:off x="648931" y="2438400"/>
            <a:ext cx="3505494" cy="3785419"/>
          </a:xfrm>
        </p:spPr>
        <p:txBody>
          <a:bodyPr>
            <a:normAutofit/>
          </a:bodyPr>
          <a:lstStyle/>
          <a:p>
            <a:pPr marL="457200" lvl="1" indent="0">
              <a:buNone/>
            </a:pPr>
            <a:endParaRPr lang="en-US" sz="2000" dirty="0"/>
          </a:p>
          <a:p>
            <a:pPr lvl="1"/>
            <a:endParaRPr lang="en-US" sz="2000" dirty="0"/>
          </a:p>
        </p:txBody>
      </p:sp>
      <p:sp>
        <p:nvSpPr>
          <p:cNvPr id="4103" name="Rectangle 4102">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05"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2">
            <a:extLst>
              <a:ext uri="{FF2B5EF4-FFF2-40B4-BE49-F238E27FC236}">
                <a16:creationId xmlns:a16="http://schemas.microsoft.com/office/drawing/2014/main" id="{43AE36E4-045F-CC19-E25F-122C2023C352}"/>
              </a:ext>
            </a:extLst>
          </p:cNvPr>
          <p:cNvSpPr txBox="1">
            <a:spLocks/>
          </p:cNvSpPr>
          <p:nvPr/>
        </p:nvSpPr>
        <p:spPr>
          <a:xfrm>
            <a:off x="-101613" y="557784"/>
            <a:ext cx="4498353" cy="5924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146" name="Picture 2" descr="Ways to Convert M4B Audiobooks to MP3 - All2MP3 for Mac - Free MP3 ...">
            <a:extLst>
              <a:ext uri="{FF2B5EF4-FFF2-40B4-BE49-F238E27FC236}">
                <a16:creationId xmlns:a16="http://schemas.microsoft.com/office/drawing/2014/main" id="{C4D2018A-B565-06F5-7C4D-E52ED164F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572" y="1618244"/>
            <a:ext cx="5835911" cy="361826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5F386266-BDE0-B7F2-3CCD-CB7DCF95138D}"/>
              </a:ext>
            </a:extLst>
          </p:cNvPr>
          <p:cNvSpPr txBox="1">
            <a:spLocks/>
          </p:cNvSpPr>
          <p:nvPr/>
        </p:nvSpPr>
        <p:spPr>
          <a:xfrm>
            <a:off x="-101613" y="465161"/>
            <a:ext cx="4498353" cy="59244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KYC:</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Why are they looking for a new opportunity?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What 3 things motivate them when thinking about a new role?</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Ask the question!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How would they rank out opportunities presented to them</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Summarize back to them their “why”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5096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241A3-2B50-463F-F833-05817BBCBE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07B741-7583-AD61-52F4-C00C233A3449}"/>
              </a:ext>
            </a:extLst>
          </p:cNvPr>
          <p:cNvSpPr/>
          <p:nvPr/>
        </p:nvSpPr>
        <p:spPr>
          <a:xfrm>
            <a:off x="1292679" y="326567"/>
            <a:ext cx="9606641" cy="1159333"/>
          </a:xfrm>
          <a:prstGeom prst="rect">
            <a:avLst/>
          </a:prstGeom>
          <a:solidFill>
            <a:srgbClr val="002D5B"/>
          </a:solidFill>
          <a:ln w="7620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Uncover Red Flags (More To Come…)</a:t>
            </a:r>
          </a:p>
        </p:txBody>
      </p:sp>
      <p:sp>
        <p:nvSpPr>
          <p:cNvPr id="4" name="TextBox 3">
            <a:extLst>
              <a:ext uri="{FF2B5EF4-FFF2-40B4-BE49-F238E27FC236}">
                <a16:creationId xmlns:a16="http://schemas.microsoft.com/office/drawing/2014/main" id="{1F3557B4-3FB8-B29C-CF01-6C55C582372C}"/>
              </a:ext>
            </a:extLst>
          </p:cNvPr>
          <p:cNvSpPr txBox="1"/>
          <p:nvPr/>
        </p:nvSpPr>
        <p:spPr>
          <a:xfrm>
            <a:off x="1088572" y="1714500"/>
            <a:ext cx="6389913" cy="646331"/>
          </a:xfrm>
          <a:prstGeom prst="rect">
            <a:avLst/>
          </a:prstGeom>
          <a:noFill/>
        </p:spPr>
        <p:txBody>
          <a:bodyPr wrap="square" rtlCol="0">
            <a:spAutoFit/>
          </a:bodyPr>
          <a:lstStyle/>
          <a:p>
            <a:pPr marL="285750" indent="-285750">
              <a:buFont typeface="Arial" panose="020B0604020202020204" pitchFamily="34" charset="0"/>
              <a:buChar char="•"/>
            </a:pPr>
            <a:endParaRPr lang="en-US"/>
          </a:p>
          <a:p>
            <a:endParaRPr lang="en-US"/>
          </a:p>
        </p:txBody>
      </p:sp>
      <p:pic>
        <p:nvPicPr>
          <p:cNvPr id="2050" name="Picture 2">
            <a:extLst>
              <a:ext uri="{FF2B5EF4-FFF2-40B4-BE49-F238E27FC236}">
                <a16:creationId xmlns:a16="http://schemas.microsoft.com/office/drawing/2014/main" id="{D1CE5558-6D68-E1A2-BCEF-2ABF5C850A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3744990" y="1829416"/>
            <a:ext cx="4702017" cy="470201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25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62E67-D443-5F9F-E5EF-B77FC063ED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8712B40-84AE-8799-25D6-B56570B83356}"/>
              </a:ext>
            </a:extLst>
          </p:cNvPr>
          <p:cNvSpPr/>
          <p:nvPr/>
        </p:nvSpPr>
        <p:spPr>
          <a:xfrm>
            <a:off x="0" y="0"/>
            <a:ext cx="12192002" cy="1430215"/>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D5B"/>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06A64C7-70CD-987A-7656-1F78F0AD7B9C}"/>
              </a:ext>
            </a:extLst>
          </p:cNvPr>
          <p:cNvSpPr/>
          <p:nvPr/>
        </p:nvSpPr>
        <p:spPr>
          <a:xfrm>
            <a:off x="-2" y="6506308"/>
            <a:ext cx="12192002" cy="351692"/>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D5B"/>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6792998-39A5-5128-848A-82DC298CF0CB}"/>
              </a:ext>
            </a:extLst>
          </p:cNvPr>
          <p:cNvSpPr/>
          <p:nvPr/>
        </p:nvSpPr>
        <p:spPr>
          <a:xfrm>
            <a:off x="3170291" y="299608"/>
            <a:ext cx="6343788"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alibri" panose="020F0502020204030204"/>
                <a:ea typeface="+mn-ea"/>
                <a:cs typeface="+mn-cs"/>
              </a:rPr>
              <a:t>MSPs and VMS Accounts</a:t>
            </a:r>
          </a:p>
        </p:txBody>
      </p:sp>
      <p:sp>
        <p:nvSpPr>
          <p:cNvPr id="7" name="Rectangle 6">
            <a:extLst>
              <a:ext uri="{FF2B5EF4-FFF2-40B4-BE49-F238E27FC236}">
                <a16:creationId xmlns:a16="http://schemas.microsoft.com/office/drawing/2014/main" id="{C96E4092-CB63-ABCE-9992-06CD7BA98DBB}"/>
              </a:ext>
            </a:extLst>
          </p:cNvPr>
          <p:cNvSpPr/>
          <p:nvPr/>
        </p:nvSpPr>
        <p:spPr>
          <a:xfrm>
            <a:off x="845974" y="2260101"/>
            <a:ext cx="5943600" cy="34163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2D5B"/>
                </a:solidFill>
                <a:effectLst/>
                <a:uLnTx/>
                <a:uFillTx/>
                <a:latin typeface="Calibri" panose="020F0502020204030204"/>
                <a:ea typeface="+mn-ea"/>
                <a:cs typeface="+mn-cs"/>
              </a:rPr>
              <a:t>If you plan to submit a candidate to one of our large clients, be sure to </a:t>
            </a:r>
            <a:r>
              <a:rPr kumimoji="0" lang="en-US" sz="3600" b="1" i="0" u="none" strike="noStrike" kern="1200" cap="none" spc="0" normalizeH="0" baseline="0" noProof="0" dirty="0">
                <a:ln>
                  <a:noFill/>
                </a:ln>
                <a:solidFill>
                  <a:srgbClr val="002D5B"/>
                </a:solidFill>
                <a:effectLst/>
                <a:uLnTx/>
                <a:uFillTx/>
                <a:latin typeface="Calibri" panose="020F0502020204030204"/>
                <a:ea typeface="+mn-ea"/>
                <a:cs typeface="+mn-cs"/>
              </a:rPr>
              <a:t>stop and check in JobDiva </a:t>
            </a:r>
            <a:r>
              <a:rPr kumimoji="0" lang="en-US" sz="3600" b="0" i="0" u="none" strike="noStrike" kern="1200" cap="none" spc="0" normalizeH="0" baseline="0" noProof="0" dirty="0">
                <a:ln>
                  <a:noFill/>
                </a:ln>
                <a:solidFill>
                  <a:srgbClr val="002D5B"/>
                </a:solidFill>
                <a:effectLst/>
                <a:uLnTx/>
                <a:uFillTx/>
                <a:latin typeface="Calibri" panose="020F0502020204030204"/>
                <a:ea typeface="+mn-ea"/>
                <a:cs typeface="+mn-cs"/>
              </a:rPr>
              <a:t>for additional questions that you may need to ask the candidate</a:t>
            </a:r>
          </a:p>
        </p:txBody>
      </p:sp>
      <p:pic>
        <p:nvPicPr>
          <p:cNvPr id="4098" name="Picture 2" descr="42,800+ Computer Submission Stock Illustrations, Royalty-Free Vector  Graphics &amp; Clip Art - iStock">
            <a:extLst>
              <a:ext uri="{FF2B5EF4-FFF2-40B4-BE49-F238E27FC236}">
                <a16:creationId xmlns:a16="http://schemas.microsoft.com/office/drawing/2014/main" id="{26674340-1269-C032-9297-7842988C4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3022" y="2137188"/>
            <a:ext cx="4346752" cy="34163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904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9BEA7F-BB50-4E24-9DBD-90922B095CF3}"/>
              </a:ext>
            </a:extLst>
          </p:cNvPr>
          <p:cNvSpPr/>
          <p:nvPr/>
        </p:nvSpPr>
        <p:spPr>
          <a:xfrm>
            <a:off x="0" y="33369"/>
            <a:ext cx="12192002" cy="1430215"/>
          </a:xfrm>
          <a:prstGeom prst="rect">
            <a:avLst/>
          </a:prstGeom>
          <a:solidFill>
            <a:srgbClr val="002D5B"/>
          </a:solidFill>
          <a:ln w="57150">
            <a:solidFill>
              <a:srgbClr val="347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53EA287-6F84-4268-8384-D4E08A16DB9A}"/>
              </a:ext>
            </a:extLst>
          </p:cNvPr>
          <p:cNvSpPr/>
          <p:nvPr/>
        </p:nvSpPr>
        <p:spPr>
          <a:xfrm>
            <a:off x="-2" y="6506308"/>
            <a:ext cx="12192002" cy="351692"/>
          </a:xfrm>
          <a:prstGeom prst="rect">
            <a:avLst/>
          </a:prstGeom>
          <a:solidFill>
            <a:srgbClr val="002D5B"/>
          </a:solidFill>
          <a:ln w="57150">
            <a:solidFill>
              <a:srgbClr val="347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790C9D3-A321-40D7-9E4B-9912023A1925}"/>
              </a:ext>
            </a:extLst>
          </p:cNvPr>
          <p:cNvSpPr/>
          <p:nvPr/>
        </p:nvSpPr>
        <p:spPr>
          <a:xfrm>
            <a:off x="4523485" y="461630"/>
            <a:ext cx="3145028" cy="830997"/>
          </a:xfrm>
          <a:prstGeom prst="rect">
            <a:avLst/>
          </a:prstGeom>
        </p:spPr>
        <p:txBody>
          <a:bodyPr wrap="none">
            <a:spAutoFit/>
          </a:bodyPr>
          <a:lstStyle/>
          <a:p>
            <a:r>
              <a:rPr lang="en-US" sz="4800" dirty="0">
                <a:solidFill>
                  <a:schemeClr val="bg1"/>
                </a:solidFill>
              </a:rPr>
              <a:t>Onboarding</a:t>
            </a:r>
          </a:p>
        </p:txBody>
      </p:sp>
      <p:sp>
        <p:nvSpPr>
          <p:cNvPr id="7" name="Rectangle 6">
            <a:extLst>
              <a:ext uri="{FF2B5EF4-FFF2-40B4-BE49-F238E27FC236}">
                <a16:creationId xmlns:a16="http://schemas.microsoft.com/office/drawing/2014/main" id="{EB4EDB68-7F2E-4CAB-AA6D-58FAB3568BF6}"/>
              </a:ext>
            </a:extLst>
          </p:cNvPr>
          <p:cNvSpPr/>
          <p:nvPr/>
        </p:nvSpPr>
        <p:spPr>
          <a:xfrm>
            <a:off x="637477" y="2215231"/>
            <a:ext cx="6835448" cy="3539430"/>
          </a:xfrm>
          <a:prstGeom prst="rect">
            <a:avLst/>
          </a:prstGeom>
        </p:spPr>
        <p:txBody>
          <a:bodyPr wrap="square">
            <a:spAutoFit/>
          </a:bodyPr>
          <a:lstStyle/>
          <a:p>
            <a:pPr marL="457200" indent="-457200">
              <a:buFont typeface="Arial" panose="020B0604020202020204" pitchFamily="34" charset="0"/>
              <a:buChar char="•"/>
            </a:pPr>
            <a:r>
              <a:rPr lang="en-US" sz="2800" dirty="0"/>
              <a:t>Get their availability if they need updated information/documentation for the specific client they will be working for</a:t>
            </a:r>
          </a:p>
          <a:p>
            <a:pPr marL="457200" indent="-457200">
              <a:buFont typeface="Arial" panose="020B0604020202020204" pitchFamily="34" charset="0"/>
              <a:buChar char="•"/>
            </a:pPr>
            <a:r>
              <a:rPr lang="en-US" sz="2800" dirty="0"/>
              <a:t>Candidates will need to complete all items to be employed at many of our clients</a:t>
            </a:r>
          </a:p>
          <a:p>
            <a:pPr marL="457200" indent="-457200">
              <a:buFont typeface="Arial" panose="020B0604020202020204" pitchFamily="34" charset="0"/>
              <a:buChar char="•"/>
            </a:pPr>
            <a:r>
              <a:rPr lang="en-US" sz="2800" dirty="0"/>
              <a:t>Make sure you are referring client qualifications to ask the right questions to make onboarding run smoothly!</a:t>
            </a:r>
          </a:p>
        </p:txBody>
      </p:sp>
      <p:pic>
        <p:nvPicPr>
          <p:cNvPr id="8" name="Graphic 7" descr="Checklist with solid fill">
            <a:extLst>
              <a:ext uri="{FF2B5EF4-FFF2-40B4-BE49-F238E27FC236}">
                <a16:creationId xmlns:a16="http://schemas.microsoft.com/office/drawing/2014/main" id="{0201D0B1-31B3-56A3-7BCF-DB17A35F35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21056">
            <a:off x="7534740" y="1960687"/>
            <a:ext cx="3994729" cy="3994729"/>
          </a:xfrm>
          <a:prstGeom prst="rect">
            <a:avLst/>
          </a:prstGeom>
        </p:spPr>
      </p:pic>
    </p:spTree>
    <p:extLst>
      <p:ext uri="{BB962C8B-B14F-4D97-AF65-F5344CB8AC3E}">
        <p14:creationId xmlns:p14="http://schemas.microsoft.com/office/powerpoint/2010/main" val="467025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Diagonal Corners Rounded 3">
            <a:extLst>
              <a:ext uri="{FF2B5EF4-FFF2-40B4-BE49-F238E27FC236}">
                <a16:creationId xmlns:a16="http://schemas.microsoft.com/office/drawing/2014/main" id="{98345D3C-4E9E-4867-A238-D848DA48269D}"/>
              </a:ext>
            </a:extLst>
          </p:cNvPr>
          <p:cNvSpPr/>
          <p:nvPr/>
        </p:nvSpPr>
        <p:spPr>
          <a:xfrm>
            <a:off x="1133033" y="2696857"/>
            <a:ext cx="1464285" cy="1464285"/>
          </a:xfrm>
          <a:prstGeom prst="round2DiagRect">
            <a:avLst>
              <a:gd name="adj1" fmla="val 29727"/>
              <a:gd name="adj2" fmla="val 0"/>
            </a:avLst>
          </a:prstGeom>
          <a:solidFill>
            <a:srgbClr val="00206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4" descr="Chat">
            <a:extLst>
              <a:ext uri="{FF2B5EF4-FFF2-40B4-BE49-F238E27FC236}">
                <a16:creationId xmlns:a16="http://schemas.microsoft.com/office/drawing/2014/main" id="{0C8E746D-0AF9-400F-90F6-3F087BDA9BDA}"/>
              </a:ext>
            </a:extLst>
          </p:cNvPr>
          <p:cNvSpPr/>
          <p:nvPr/>
        </p:nvSpPr>
        <p:spPr>
          <a:xfrm>
            <a:off x="1445093" y="3008918"/>
            <a:ext cx="840163" cy="840163"/>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 name="Rectangle: Diagonal Corners Rounded 5">
            <a:extLst>
              <a:ext uri="{FF2B5EF4-FFF2-40B4-BE49-F238E27FC236}">
                <a16:creationId xmlns:a16="http://schemas.microsoft.com/office/drawing/2014/main" id="{4DB8931B-0A32-4B44-8AE9-319B38EEDE57}"/>
              </a:ext>
            </a:extLst>
          </p:cNvPr>
          <p:cNvSpPr/>
          <p:nvPr/>
        </p:nvSpPr>
        <p:spPr>
          <a:xfrm>
            <a:off x="3953582" y="2696857"/>
            <a:ext cx="1464285" cy="1464285"/>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7" name="Rectangle 6" descr="Questions">
            <a:extLst>
              <a:ext uri="{FF2B5EF4-FFF2-40B4-BE49-F238E27FC236}">
                <a16:creationId xmlns:a16="http://schemas.microsoft.com/office/drawing/2014/main" id="{E0A2DCA0-4A8A-4133-9349-DFF0A0AB39AB}"/>
              </a:ext>
            </a:extLst>
          </p:cNvPr>
          <p:cNvSpPr/>
          <p:nvPr/>
        </p:nvSpPr>
        <p:spPr>
          <a:xfrm>
            <a:off x="4265643" y="3008918"/>
            <a:ext cx="840163" cy="840163"/>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Rectangle: Diagonal Corners Rounded 7">
            <a:extLst>
              <a:ext uri="{FF2B5EF4-FFF2-40B4-BE49-F238E27FC236}">
                <a16:creationId xmlns:a16="http://schemas.microsoft.com/office/drawing/2014/main" id="{0B7375D1-3BEF-4528-9984-BEC27342641E}"/>
              </a:ext>
            </a:extLst>
          </p:cNvPr>
          <p:cNvSpPr/>
          <p:nvPr/>
        </p:nvSpPr>
        <p:spPr>
          <a:xfrm>
            <a:off x="6774132" y="2696857"/>
            <a:ext cx="1464285" cy="1464285"/>
          </a:xfrm>
          <a:prstGeom prst="round2DiagRect">
            <a:avLst>
              <a:gd name="adj1" fmla="val 29727"/>
              <a:gd name="adj2" fmla="val 0"/>
            </a:avLst>
          </a:prstGeom>
          <a:solidFill>
            <a:srgbClr val="92D05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9" name="Rectangle 8" descr="Question mark">
            <a:extLst>
              <a:ext uri="{FF2B5EF4-FFF2-40B4-BE49-F238E27FC236}">
                <a16:creationId xmlns:a16="http://schemas.microsoft.com/office/drawing/2014/main" id="{EE1B5C20-3A0C-4A75-A8E3-F6C432FBAF84}"/>
              </a:ext>
            </a:extLst>
          </p:cNvPr>
          <p:cNvSpPr/>
          <p:nvPr/>
        </p:nvSpPr>
        <p:spPr>
          <a:xfrm>
            <a:off x="7086193" y="3008918"/>
            <a:ext cx="840163" cy="840163"/>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Rectangle: Diagonal Corners Rounded 9">
            <a:extLst>
              <a:ext uri="{FF2B5EF4-FFF2-40B4-BE49-F238E27FC236}">
                <a16:creationId xmlns:a16="http://schemas.microsoft.com/office/drawing/2014/main" id="{8EB2B939-CD57-452C-AD42-46D216592132}"/>
              </a:ext>
            </a:extLst>
          </p:cNvPr>
          <p:cNvSpPr/>
          <p:nvPr/>
        </p:nvSpPr>
        <p:spPr>
          <a:xfrm>
            <a:off x="9594682" y="2696857"/>
            <a:ext cx="1464285" cy="1464285"/>
          </a:xfrm>
          <a:prstGeom prst="round2DiagRect">
            <a:avLst>
              <a:gd name="adj1" fmla="val 29727"/>
              <a:gd name="adj2" fmla="val 0"/>
            </a:avLst>
          </a:prstGeom>
          <a:solidFill>
            <a:srgbClr val="002060"/>
          </a:solidFill>
        </p:spPr>
        <p:style>
          <a:lnRef idx="2">
            <a:schemeClr val="accent6"/>
          </a:lnRef>
          <a:fillRef idx="1">
            <a:schemeClr val="lt1"/>
          </a:fillRef>
          <a:effectRef idx="0">
            <a:schemeClr val="accent6"/>
          </a:effectRef>
          <a:fontRef idx="minor">
            <a:schemeClr val="dk1"/>
          </a:fontRef>
        </p:style>
        <p:txBody>
          <a:bodyPr/>
          <a:lstStyle/>
          <a:p>
            <a:endParaRPr lang="en-US"/>
          </a:p>
        </p:txBody>
      </p:sp>
      <p:pic>
        <p:nvPicPr>
          <p:cNvPr id="13" name="Graphic 12" descr="Checkmark">
            <a:extLst>
              <a:ext uri="{FF2B5EF4-FFF2-40B4-BE49-F238E27FC236}">
                <a16:creationId xmlns:a16="http://schemas.microsoft.com/office/drawing/2014/main" id="{58C0BBCA-D1E3-4508-AFBB-9017B99765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71977" y="3041535"/>
            <a:ext cx="774930" cy="774930"/>
          </a:xfrm>
          <a:prstGeom prst="rect">
            <a:avLst/>
          </a:prstGeom>
        </p:spPr>
      </p:pic>
      <p:grpSp>
        <p:nvGrpSpPr>
          <p:cNvPr id="14" name="Group 13">
            <a:extLst>
              <a:ext uri="{FF2B5EF4-FFF2-40B4-BE49-F238E27FC236}">
                <a16:creationId xmlns:a16="http://schemas.microsoft.com/office/drawing/2014/main" id="{CC3312F3-C191-46F5-A143-8B3384464EC9}"/>
              </a:ext>
            </a:extLst>
          </p:cNvPr>
          <p:cNvGrpSpPr/>
          <p:nvPr/>
        </p:nvGrpSpPr>
        <p:grpSpPr>
          <a:xfrm>
            <a:off x="664940" y="4370261"/>
            <a:ext cx="2400467" cy="720000"/>
            <a:chOff x="272684" y="2775856"/>
            <a:chExt cx="2400467" cy="720000"/>
          </a:xfrm>
        </p:grpSpPr>
        <p:sp>
          <p:nvSpPr>
            <p:cNvPr id="15" name="Rectangle 14">
              <a:extLst>
                <a:ext uri="{FF2B5EF4-FFF2-40B4-BE49-F238E27FC236}">
                  <a16:creationId xmlns:a16="http://schemas.microsoft.com/office/drawing/2014/main" id="{0B53951E-A2AA-420F-8986-B844859858C4}"/>
                </a:ext>
              </a:extLst>
            </p:cNvPr>
            <p:cNvSpPr/>
            <p:nvPr/>
          </p:nvSpPr>
          <p:spPr>
            <a:xfrm>
              <a:off x="272684" y="2775856"/>
              <a:ext cx="2400467"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sz="2800"/>
            </a:p>
          </p:txBody>
        </p:sp>
        <p:sp>
          <p:nvSpPr>
            <p:cNvPr id="16" name="TextBox 15">
              <a:extLst>
                <a:ext uri="{FF2B5EF4-FFF2-40B4-BE49-F238E27FC236}">
                  <a16:creationId xmlns:a16="http://schemas.microsoft.com/office/drawing/2014/main" id="{3B1F6570-8D42-4DE0-907D-D3B715071749}"/>
                </a:ext>
              </a:extLst>
            </p:cNvPr>
            <p:cNvSpPr txBox="1"/>
            <p:nvPr/>
          </p:nvSpPr>
          <p:spPr>
            <a:xfrm>
              <a:off x="272684" y="2775856"/>
              <a:ext cx="2400467"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2800" kern="1200" dirty="0"/>
                <a:t>Recap the interview</a:t>
              </a:r>
            </a:p>
          </p:txBody>
        </p:sp>
      </p:grpSp>
      <p:grpSp>
        <p:nvGrpSpPr>
          <p:cNvPr id="18" name="Group 17">
            <a:extLst>
              <a:ext uri="{FF2B5EF4-FFF2-40B4-BE49-F238E27FC236}">
                <a16:creationId xmlns:a16="http://schemas.microsoft.com/office/drawing/2014/main" id="{AEE2BE27-4F12-419E-A41B-1A3C1F1AD9A4}"/>
              </a:ext>
            </a:extLst>
          </p:cNvPr>
          <p:cNvGrpSpPr/>
          <p:nvPr/>
        </p:nvGrpSpPr>
        <p:grpSpPr>
          <a:xfrm>
            <a:off x="3485490" y="4370261"/>
            <a:ext cx="2400467" cy="720000"/>
            <a:chOff x="3093234" y="2775856"/>
            <a:chExt cx="2400467" cy="720000"/>
          </a:xfrm>
        </p:grpSpPr>
        <p:sp>
          <p:nvSpPr>
            <p:cNvPr id="19" name="Rectangle 18">
              <a:extLst>
                <a:ext uri="{FF2B5EF4-FFF2-40B4-BE49-F238E27FC236}">
                  <a16:creationId xmlns:a16="http://schemas.microsoft.com/office/drawing/2014/main" id="{22C4DB6A-D1A0-4029-8559-E50CFA06E8AF}"/>
                </a:ext>
              </a:extLst>
            </p:cNvPr>
            <p:cNvSpPr/>
            <p:nvPr/>
          </p:nvSpPr>
          <p:spPr>
            <a:xfrm>
              <a:off x="3093234" y="2775856"/>
              <a:ext cx="2400467"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0" name="TextBox 19">
              <a:extLst>
                <a:ext uri="{FF2B5EF4-FFF2-40B4-BE49-F238E27FC236}">
                  <a16:creationId xmlns:a16="http://schemas.microsoft.com/office/drawing/2014/main" id="{48D38F9E-92BE-4139-8FB9-718395BC4256}"/>
                </a:ext>
              </a:extLst>
            </p:cNvPr>
            <p:cNvSpPr txBox="1"/>
            <p:nvPr/>
          </p:nvSpPr>
          <p:spPr>
            <a:xfrm>
              <a:off x="3093234" y="2775856"/>
              <a:ext cx="2400467"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2000" kern="1200" dirty="0"/>
                <a:t>Ensure you’ve gone over all of the important questions</a:t>
              </a:r>
            </a:p>
          </p:txBody>
        </p:sp>
      </p:grpSp>
      <p:grpSp>
        <p:nvGrpSpPr>
          <p:cNvPr id="21" name="Group 20">
            <a:extLst>
              <a:ext uri="{FF2B5EF4-FFF2-40B4-BE49-F238E27FC236}">
                <a16:creationId xmlns:a16="http://schemas.microsoft.com/office/drawing/2014/main" id="{A6DACBDF-99C7-42EE-9F5B-3D98B4475E25}"/>
              </a:ext>
            </a:extLst>
          </p:cNvPr>
          <p:cNvGrpSpPr/>
          <p:nvPr/>
        </p:nvGrpSpPr>
        <p:grpSpPr>
          <a:xfrm>
            <a:off x="6306040" y="4370261"/>
            <a:ext cx="2400467" cy="720000"/>
            <a:chOff x="5913784" y="2775856"/>
            <a:chExt cx="2400467" cy="720000"/>
          </a:xfrm>
        </p:grpSpPr>
        <p:sp>
          <p:nvSpPr>
            <p:cNvPr id="22" name="Rectangle 21">
              <a:extLst>
                <a:ext uri="{FF2B5EF4-FFF2-40B4-BE49-F238E27FC236}">
                  <a16:creationId xmlns:a16="http://schemas.microsoft.com/office/drawing/2014/main" id="{43CC09CA-C00F-49A2-A09E-9E3AC01B997F}"/>
                </a:ext>
              </a:extLst>
            </p:cNvPr>
            <p:cNvSpPr/>
            <p:nvPr/>
          </p:nvSpPr>
          <p:spPr>
            <a:xfrm>
              <a:off x="5913784" y="2775856"/>
              <a:ext cx="2400467"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24D91A45-B801-41CC-B0BC-DC6806E0C8AC}"/>
                </a:ext>
              </a:extLst>
            </p:cNvPr>
            <p:cNvSpPr txBox="1"/>
            <p:nvPr/>
          </p:nvSpPr>
          <p:spPr>
            <a:xfrm>
              <a:off x="5913784" y="2775856"/>
              <a:ext cx="2400467"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2000" kern="1200" dirty="0"/>
                <a:t>Ask if there is anything else that they would like to go over</a:t>
              </a:r>
            </a:p>
          </p:txBody>
        </p:sp>
      </p:grpSp>
      <p:grpSp>
        <p:nvGrpSpPr>
          <p:cNvPr id="24" name="Group 23">
            <a:extLst>
              <a:ext uri="{FF2B5EF4-FFF2-40B4-BE49-F238E27FC236}">
                <a16:creationId xmlns:a16="http://schemas.microsoft.com/office/drawing/2014/main" id="{1365254B-2422-4F63-BB2E-77B6D88301C4}"/>
              </a:ext>
            </a:extLst>
          </p:cNvPr>
          <p:cNvGrpSpPr/>
          <p:nvPr/>
        </p:nvGrpSpPr>
        <p:grpSpPr>
          <a:xfrm>
            <a:off x="9159208" y="4370261"/>
            <a:ext cx="2400467" cy="720000"/>
            <a:chOff x="8734334" y="2775856"/>
            <a:chExt cx="2400467" cy="720000"/>
          </a:xfrm>
        </p:grpSpPr>
        <p:sp>
          <p:nvSpPr>
            <p:cNvPr id="25" name="Rectangle 24">
              <a:extLst>
                <a:ext uri="{FF2B5EF4-FFF2-40B4-BE49-F238E27FC236}">
                  <a16:creationId xmlns:a16="http://schemas.microsoft.com/office/drawing/2014/main" id="{8159A096-F345-4748-A8AB-93C7A50CC264}"/>
                </a:ext>
              </a:extLst>
            </p:cNvPr>
            <p:cNvSpPr/>
            <p:nvPr/>
          </p:nvSpPr>
          <p:spPr>
            <a:xfrm>
              <a:off x="8734334" y="2775856"/>
              <a:ext cx="2400467"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6" name="TextBox 25">
              <a:extLst>
                <a:ext uri="{FF2B5EF4-FFF2-40B4-BE49-F238E27FC236}">
                  <a16:creationId xmlns:a16="http://schemas.microsoft.com/office/drawing/2014/main" id="{EDEA6AEA-4923-4DEC-AFC4-307E7FD94878}"/>
                </a:ext>
              </a:extLst>
            </p:cNvPr>
            <p:cNvSpPr txBox="1"/>
            <p:nvPr/>
          </p:nvSpPr>
          <p:spPr>
            <a:xfrm>
              <a:off x="8734334" y="2775856"/>
              <a:ext cx="2400467"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2000" kern="1200" dirty="0"/>
                <a:t>Solidify next steps and what you will do And what you expect from them. SET A FOLLOW UP!</a:t>
              </a:r>
            </a:p>
          </p:txBody>
        </p:sp>
      </p:grpSp>
      <p:sp>
        <p:nvSpPr>
          <p:cNvPr id="27" name="Rectangle 26">
            <a:extLst>
              <a:ext uri="{FF2B5EF4-FFF2-40B4-BE49-F238E27FC236}">
                <a16:creationId xmlns:a16="http://schemas.microsoft.com/office/drawing/2014/main" id="{8FF3B088-EDC2-4FAB-A995-43E99DD28495}"/>
              </a:ext>
            </a:extLst>
          </p:cNvPr>
          <p:cNvSpPr/>
          <p:nvPr/>
        </p:nvSpPr>
        <p:spPr>
          <a:xfrm>
            <a:off x="0" y="0"/>
            <a:ext cx="12192002" cy="1430215"/>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9008D8-CD8C-4A87-BC9D-3E6EE06274BC}"/>
              </a:ext>
            </a:extLst>
          </p:cNvPr>
          <p:cNvSpPr/>
          <p:nvPr/>
        </p:nvSpPr>
        <p:spPr>
          <a:xfrm>
            <a:off x="-2" y="6506308"/>
            <a:ext cx="12192002" cy="351692"/>
          </a:xfrm>
          <a:prstGeom prst="rect">
            <a:avLst/>
          </a:prstGeom>
          <a:solidFill>
            <a:srgbClr val="002060"/>
          </a:solidFill>
          <a:ln w="57150">
            <a:solidFill>
              <a:srgbClr val="78B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0C6A7B9-A96E-47F1-817A-A2EDBA0E199E}"/>
              </a:ext>
            </a:extLst>
          </p:cNvPr>
          <p:cNvSpPr/>
          <p:nvPr/>
        </p:nvSpPr>
        <p:spPr>
          <a:xfrm>
            <a:off x="2806188" y="339750"/>
            <a:ext cx="6579622" cy="830997"/>
          </a:xfrm>
          <a:prstGeom prst="rect">
            <a:avLst/>
          </a:prstGeom>
        </p:spPr>
        <p:txBody>
          <a:bodyPr wrap="none">
            <a:spAutoFit/>
          </a:bodyPr>
          <a:lstStyle/>
          <a:p>
            <a:r>
              <a:rPr lang="en-US" sz="4800" dirty="0">
                <a:solidFill>
                  <a:schemeClr val="bg1"/>
                </a:solidFill>
              </a:rPr>
              <a:t>Summarize the Interview </a:t>
            </a:r>
          </a:p>
        </p:txBody>
      </p:sp>
    </p:spTree>
    <p:extLst>
      <p:ext uri="{BB962C8B-B14F-4D97-AF65-F5344CB8AC3E}">
        <p14:creationId xmlns:p14="http://schemas.microsoft.com/office/powerpoint/2010/main" val="881304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6F28C8-BC29-41DA-9E0E-305A63DCD8A9}"/>
              </a:ext>
            </a:extLst>
          </p:cNvPr>
          <p:cNvSpPr>
            <a:spLocks noGrp="1"/>
          </p:cNvSpPr>
          <p:nvPr>
            <p:ph idx="1"/>
          </p:nvPr>
        </p:nvSpPr>
        <p:spPr>
          <a:xfrm>
            <a:off x="951349" y="2266125"/>
            <a:ext cx="4586513" cy="3647710"/>
          </a:xfrm>
        </p:spPr>
        <p:txBody>
          <a:bodyPr>
            <a:normAutofit/>
          </a:bodyPr>
          <a:lstStyle/>
          <a:p>
            <a:r>
              <a:rPr lang="en-US" sz="2000" dirty="0">
                <a:solidFill>
                  <a:schemeClr val="bg1"/>
                </a:solidFill>
              </a:rPr>
              <a:t>You have two ears and one mouth for a reason!  LISTEN!</a:t>
            </a:r>
          </a:p>
          <a:p>
            <a:r>
              <a:rPr lang="en-US" sz="2000" dirty="0">
                <a:solidFill>
                  <a:schemeClr val="bg1"/>
                </a:solidFill>
              </a:rPr>
              <a:t>Always be closing!</a:t>
            </a:r>
          </a:p>
          <a:p>
            <a:r>
              <a:rPr lang="en-US" sz="2000" dirty="0">
                <a:solidFill>
                  <a:schemeClr val="bg1"/>
                </a:solidFill>
              </a:rPr>
              <a:t>Ask Open Ended Questions</a:t>
            </a:r>
          </a:p>
        </p:txBody>
      </p:sp>
      <p:sp>
        <p:nvSpPr>
          <p:cNvPr id="4" name="Rectangle 3">
            <a:extLst>
              <a:ext uri="{FF2B5EF4-FFF2-40B4-BE49-F238E27FC236}">
                <a16:creationId xmlns:a16="http://schemas.microsoft.com/office/drawing/2014/main" id="{C143DA48-6A32-46A8-B1AB-60A84EB332EA}"/>
              </a:ext>
            </a:extLst>
          </p:cNvPr>
          <p:cNvSpPr/>
          <p:nvPr/>
        </p:nvSpPr>
        <p:spPr>
          <a:xfrm>
            <a:off x="245143" y="187036"/>
            <a:ext cx="6266564" cy="6483927"/>
          </a:xfrm>
          <a:prstGeom prst="rect">
            <a:avLst/>
          </a:prstGeom>
          <a:solidFill>
            <a:schemeClr val="bg1"/>
          </a:solid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3EFCE01B-8D3F-466B-8C12-87EE9DC463D0}"/>
              </a:ext>
            </a:extLst>
          </p:cNvPr>
          <p:cNvSpPr>
            <a:spLocks noGrp="1"/>
          </p:cNvSpPr>
          <p:nvPr>
            <p:ph type="title"/>
          </p:nvPr>
        </p:nvSpPr>
        <p:spPr>
          <a:xfrm>
            <a:off x="1706884" y="0"/>
            <a:ext cx="3313461" cy="1325563"/>
          </a:xfrm>
        </p:spPr>
        <p:txBody>
          <a:bodyPr>
            <a:noAutofit/>
          </a:bodyPr>
          <a:lstStyle/>
          <a:p>
            <a:r>
              <a:rPr lang="en-US" sz="4200" b="1" dirty="0">
                <a:solidFill>
                  <a:schemeClr val="accent2"/>
                </a:solidFill>
                <a:latin typeface="+mn-lt"/>
              </a:rPr>
              <a:t>Best Practices</a:t>
            </a:r>
          </a:p>
        </p:txBody>
      </p:sp>
      <p:sp>
        <p:nvSpPr>
          <p:cNvPr id="11" name="Content Placeholder 2">
            <a:extLst>
              <a:ext uri="{FF2B5EF4-FFF2-40B4-BE49-F238E27FC236}">
                <a16:creationId xmlns:a16="http://schemas.microsoft.com/office/drawing/2014/main" id="{DEE5B06F-935E-453E-A5C7-1DE89C8B5960}"/>
              </a:ext>
            </a:extLst>
          </p:cNvPr>
          <p:cNvSpPr txBox="1">
            <a:spLocks/>
          </p:cNvSpPr>
          <p:nvPr/>
        </p:nvSpPr>
        <p:spPr>
          <a:xfrm>
            <a:off x="460238" y="932366"/>
            <a:ext cx="5836374" cy="36477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defRPr/>
            </a:pPr>
            <a:r>
              <a:rPr kumimoji="0" lang="en-US" sz="3200" b="0" i="0" u="none" strike="noStrike" kern="1200" cap="none" spc="0" normalizeH="0" baseline="0" noProof="0" dirty="0">
                <a:ln>
                  <a:noFill/>
                </a:ln>
                <a:solidFill>
                  <a:srgbClr val="002D5B"/>
                </a:solidFill>
                <a:effectLst/>
                <a:uLnTx/>
                <a:uFillTx/>
                <a:latin typeface="Calibri" panose="020F0502020204030204"/>
                <a:ea typeface="+mn-ea"/>
                <a:cs typeface="+mn-cs"/>
              </a:rPr>
              <a:t>Don’t waste time with mediocre candidates</a:t>
            </a:r>
          </a:p>
          <a:p>
            <a:pPr>
              <a:lnSpc>
                <a:spcPct val="100000"/>
              </a:lnSpc>
              <a:spcBef>
                <a:spcPts val="0"/>
              </a:spcBef>
              <a:defRPr/>
            </a:pPr>
            <a:r>
              <a:rPr kumimoji="0" lang="en-US" sz="3200" b="0" i="0" u="none" strike="noStrike" kern="1200" cap="none" spc="0" normalizeH="0" baseline="0" noProof="0" dirty="0">
                <a:ln>
                  <a:noFill/>
                </a:ln>
                <a:solidFill>
                  <a:srgbClr val="002D5B"/>
                </a:solidFill>
                <a:effectLst/>
                <a:uLnTx/>
                <a:uFillTx/>
                <a:latin typeface="Calibri" panose="020F0502020204030204"/>
                <a:ea typeface="+mn-ea"/>
                <a:cs typeface="+mn-cs"/>
              </a:rPr>
              <a:t>Take GREAT notes and add them to JD in real time</a:t>
            </a:r>
          </a:p>
          <a:p>
            <a:pPr>
              <a:lnSpc>
                <a:spcPct val="100000"/>
              </a:lnSpc>
              <a:spcBef>
                <a:spcPts val="0"/>
              </a:spcBef>
              <a:defRPr/>
            </a:pPr>
            <a:r>
              <a:rPr kumimoji="0" lang="en-US" sz="3200" b="0" i="0" u="none" strike="noStrike" kern="1200" cap="none" spc="0" normalizeH="0" baseline="0" noProof="0" dirty="0">
                <a:ln>
                  <a:noFill/>
                </a:ln>
                <a:solidFill>
                  <a:srgbClr val="002D5B"/>
                </a:solidFill>
                <a:effectLst/>
                <a:uLnTx/>
                <a:uFillTx/>
                <a:latin typeface="Calibri" panose="020F0502020204030204"/>
                <a:ea typeface="+mn-ea"/>
                <a:cs typeface="+mn-cs"/>
              </a:rPr>
              <a:t>Follow up when you say you will &amp; begin building the relationship</a:t>
            </a:r>
          </a:p>
          <a:p>
            <a:pPr>
              <a:lnSpc>
                <a:spcPct val="100000"/>
              </a:lnSpc>
              <a:spcBef>
                <a:spcPts val="0"/>
              </a:spcBef>
              <a:defRPr/>
            </a:pPr>
            <a:r>
              <a:rPr lang="en-US" sz="3200" dirty="0">
                <a:solidFill>
                  <a:srgbClr val="002D5B"/>
                </a:solidFill>
                <a:latin typeface="Calibri" panose="020F0502020204030204"/>
              </a:rPr>
              <a:t>No news is still news!</a:t>
            </a:r>
            <a:endParaRPr kumimoji="0" lang="en-US" sz="3200" b="0" i="0" u="none" strike="noStrike" kern="1200" cap="none" spc="0" normalizeH="0" baseline="0" noProof="0" dirty="0">
              <a:ln>
                <a:noFill/>
              </a:ln>
              <a:solidFill>
                <a:srgbClr val="002D5B"/>
              </a:solidFill>
              <a:effectLst/>
              <a:uLnTx/>
              <a:uFillTx/>
              <a:latin typeface="Calibri" panose="020F0502020204030204"/>
              <a:ea typeface="+mn-ea"/>
              <a:cs typeface="+mn-cs"/>
            </a:endParaRPr>
          </a:p>
          <a:p>
            <a:r>
              <a:rPr lang="en-US" sz="3200" dirty="0"/>
              <a:t>Connect on LinkedIn and send a follow up email</a:t>
            </a:r>
          </a:p>
          <a:p>
            <a:r>
              <a:rPr lang="en-US" sz="3200" dirty="0"/>
              <a:t>Treat every candidate like they may be a client tomorrow</a:t>
            </a:r>
          </a:p>
        </p:txBody>
      </p:sp>
      <p:pic>
        <p:nvPicPr>
          <p:cNvPr id="3074" name="Picture 2" descr="13,500+ Sales Team Success Stock Illustrations, Royalty-Free Vector  Graphics &amp; Clip Art - iStock">
            <a:extLst>
              <a:ext uri="{FF2B5EF4-FFF2-40B4-BE49-F238E27FC236}">
                <a16:creationId xmlns:a16="http://schemas.microsoft.com/office/drawing/2014/main" id="{F624CEC3-F809-760F-5FF2-E208BF4EFF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2633" y="1501270"/>
            <a:ext cx="4452928" cy="385546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148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fferent colored question marks">
            <a:extLst>
              <a:ext uri="{FF2B5EF4-FFF2-40B4-BE49-F238E27FC236}">
                <a16:creationId xmlns:a16="http://schemas.microsoft.com/office/drawing/2014/main" id="{9C391B86-08DD-E67F-4ED1-A2030376A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 y="0"/>
            <a:ext cx="12191551" cy="6858000"/>
          </a:xfrm>
          <a:prstGeom prst="rect">
            <a:avLst/>
          </a:prstGeom>
        </p:spPr>
      </p:pic>
    </p:spTree>
    <p:extLst>
      <p:ext uri="{BB962C8B-B14F-4D97-AF65-F5344CB8AC3E}">
        <p14:creationId xmlns:p14="http://schemas.microsoft.com/office/powerpoint/2010/main" val="3467322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1">
      <a:dk1>
        <a:srgbClr val="002B4B"/>
      </a:dk1>
      <a:lt1>
        <a:srgbClr val="FFFAFC"/>
      </a:lt1>
      <a:dk2>
        <a:srgbClr val="002B4B"/>
      </a:dk2>
      <a:lt2>
        <a:srgbClr val="E7E6E6"/>
      </a:lt2>
      <a:accent1>
        <a:srgbClr val="349A46"/>
      </a:accent1>
      <a:accent2>
        <a:srgbClr val="C3EBCA"/>
      </a:accent2>
      <a:accent3>
        <a:srgbClr val="A3D8FF"/>
      </a:accent3>
      <a:accent4>
        <a:srgbClr val="349A46"/>
      </a:accent4>
      <a:accent5>
        <a:srgbClr val="002B4B"/>
      </a:accent5>
      <a:accent6>
        <a:srgbClr val="349A46"/>
      </a:accent6>
      <a:hlink>
        <a:srgbClr val="002B4B"/>
      </a:hlink>
      <a:folHlink>
        <a:srgbClr val="002B4B"/>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Custom 8">
      <a:dk1>
        <a:srgbClr val="FFFFFF"/>
      </a:dk1>
      <a:lt1>
        <a:srgbClr val="002D5B"/>
      </a:lt1>
      <a:dk2>
        <a:srgbClr val="347DB9"/>
      </a:dk2>
      <a:lt2>
        <a:srgbClr val="002D5B"/>
      </a:lt2>
      <a:accent1>
        <a:srgbClr val="002D5B"/>
      </a:accent1>
      <a:accent2>
        <a:srgbClr val="002D5B"/>
      </a:accent2>
      <a:accent3>
        <a:srgbClr val="347DB9"/>
      </a:accent3>
      <a:accent4>
        <a:srgbClr val="349A46"/>
      </a:accent4>
      <a:accent5>
        <a:srgbClr val="FFFFFF"/>
      </a:accent5>
      <a:accent6>
        <a:srgbClr val="FFFFFF"/>
      </a:accent6>
      <a:hlink>
        <a:srgbClr val="349A46"/>
      </a:hlink>
      <a:folHlink>
        <a:srgbClr val="FFFF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4.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5972326A88CC43954F7DDFA7574A6D" ma:contentTypeVersion="17" ma:contentTypeDescription="Create a new document." ma:contentTypeScope="" ma:versionID="248ae3697b2cdd8d97c55d66c5609bfc">
  <xsd:schema xmlns:xsd="http://www.w3.org/2001/XMLSchema" xmlns:xs="http://www.w3.org/2001/XMLSchema" xmlns:p="http://schemas.microsoft.com/office/2006/metadata/properties" xmlns:ns2="f08bd697-cae9-4d01-9608-1b1b795739b3" xmlns:ns3="95cb4f33-42e9-48b9-aa39-29430486bf92" targetNamespace="http://schemas.microsoft.com/office/2006/metadata/properties" ma:root="true" ma:fieldsID="e9cd56617f5fae5db90a8c6d0dc8e44b" ns2:_="" ns3:_="">
    <xsd:import namespace="f08bd697-cae9-4d01-9608-1b1b795739b3"/>
    <xsd:import namespace="95cb4f33-42e9-48b9-aa39-29430486bf92"/>
    <xsd:element name="properties">
      <xsd:complexType>
        <xsd:sequence>
          <xsd:element name="documentManagement">
            <xsd:complexType>
              <xsd:all>
                <xsd:element ref="ns2:TrainingDocumentType" minOccurs="0"/>
                <xsd:element ref="ns3:SharedWithUsers" minOccurs="0"/>
                <xsd:element ref="ns3:SharingHintHash" minOccurs="0"/>
                <xsd:element ref="ns3:SharedWithDetails" minOccurs="0"/>
                <xsd:element ref="ns3:LastSharedByUser" minOccurs="0"/>
                <xsd:element ref="ns3:LastSharedByTime" minOccurs="0"/>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8bd697-cae9-4d01-9608-1b1b795739b3" elementFormDefault="qualified">
    <xsd:import namespace="http://schemas.microsoft.com/office/2006/documentManagement/types"/>
    <xsd:import namespace="http://schemas.microsoft.com/office/infopath/2007/PartnerControls"/>
    <xsd:element name="TrainingDocumentType" ma:index="8" nillable="true" ma:displayName="TrainingDocumentType" ma:format="Dropdown" ma:internalName="TrainingDocumentType">
      <xsd:simpleType>
        <xsd:restriction base="dms:Choice">
          <xsd:enumeration value="book of businesses"/>
          <xsd:enumeration value="financial training"/>
          <xsd:enumeration value="manuals"/>
          <xsd:enumeration value="process training"/>
          <xsd:enumeration value="sales training"/>
          <xsd:enumeration value="technology training"/>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MediaServiceAutoTags" ma:internalName="MediaServiceAutoTags"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DateTaken" ma:index="22" nillable="true" ma:displayName="MediaServiceDateTaken" ma:hidden="true" ma:internalName="MediaServiceDateTake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5cb4f33-42e9-48b9-aa39-29430486bf92"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0" nillable="true" ma:displayName="Sharing Hint Hash" ma:internalName="SharingHintHash" ma:readOnly="true">
      <xsd:simpleType>
        <xsd:restriction base="dms:Text"/>
      </xsd:simple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rainingDocumentType xmlns="f08bd697-cae9-4d01-9608-1b1b795739b3">book of businesses</TrainingDocumentTyp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D7D4FE-9F8F-4010-A2CC-9EB386258229}">
  <ds:schemaRefs>
    <ds:schemaRef ds:uri="95cb4f33-42e9-48b9-aa39-29430486bf92"/>
    <ds:schemaRef ds:uri="f08bd697-cae9-4d01-9608-1b1b795739b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1232C0C-2646-4A81-A0D2-2C996D2B475D}">
  <ds:schemaRefs>
    <ds:schemaRef ds:uri="95cb4f33-42e9-48b9-aa39-29430486bf92"/>
    <ds:schemaRef ds:uri="f08bd697-cae9-4d01-9608-1b1b795739b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524B6DE-6E96-4AE6-B8A5-DCD429C25A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1491</TotalTime>
  <Words>1312</Words>
  <Application>Microsoft Office PowerPoint</Application>
  <PresentationFormat>Widescreen</PresentationFormat>
  <Paragraphs>169</Paragraphs>
  <Slides>22</Slides>
  <Notes>17</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22</vt:i4>
      </vt:variant>
    </vt:vector>
  </HeadingPairs>
  <TitlesOfParts>
    <vt:vector size="32" baseType="lpstr">
      <vt:lpstr>AlternateGothic2 BT</vt:lpstr>
      <vt:lpstr>-apple-system</vt:lpstr>
      <vt:lpstr>Arial</vt:lpstr>
      <vt:lpstr>Calibri</vt:lpstr>
      <vt:lpstr>Calibri Light</vt:lpstr>
      <vt:lpstr>Sabon Next LT</vt:lpstr>
      <vt:lpstr>Office Theme</vt:lpstr>
      <vt:lpstr>2_Office Theme</vt:lpstr>
      <vt:lpstr>3_Office Theme</vt:lpstr>
      <vt:lpstr>4_Office Theme</vt:lpstr>
      <vt:lpstr>PowerPoint Presentation</vt:lpstr>
      <vt:lpstr>PowerPoint Presentation</vt:lpstr>
      <vt:lpstr>PowerPoint Presentation</vt:lpstr>
      <vt:lpstr>PowerPoint Presentation</vt:lpstr>
      <vt:lpstr>PowerPoint Presentation</vt:lpstr>
      <vt:lpstr>Be Prepared!</vt:lpstr>
      <vt:lpstr>PowerPoint Presentation</vt:lpstr>
      <vt:lpstr>PowerPoint Presentation</vt:lpstr>
      <vt:lpstr>Introducing Yourself And Mitchell Martin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Best Practices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Jessica Zych</dc:creator>
  <cp:lastModifiedBy>Jordan Lyons</cp:lastModifiedBy>
  <cp:revision>7</cp:revision>
  <dcterms:created xsi:type="dcterms:W3CDTF">2020-05-18T21:08:13Z</dcterms:created>
  <dcterms:modified xsi:type="dcterms:W3CDTF">2026-06-16T20:35:33Z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0x010100F55972326A88CC43954F7DDFA7574A6D</vt:lpwstr>
  </property>
</Properties>
</file>
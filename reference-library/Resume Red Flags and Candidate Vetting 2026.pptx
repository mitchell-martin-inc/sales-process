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8" r:id="rId6"/>
  </p:sldMasterIdLst>
  <p:notesMasterIdLst>
    <p:notesMasterId r:id="rId22"/>
  </p:notesMasterIdLst>
  <p:sldIdLst>
    <p:sldId id="270" r:id="rId7"/>
    <p:sldId id="320" r:id="rId8"/>
    <p:sldId id="343" r:id="rId9"/>
    <p:sldId id="345" r:id="rId10"/>
    <p:sldId id="346" r:id="rId11"/>
    <p:sldId id="319" r:id="rId12"/>
    <p:sldId id="334" r:id="rId13"/>
    <p:sldId id="344" r:id="rId14"/>
    <p:sldId id="335" r:id="rId15"/>
    <p:sldId id="287" r:id="rId16"/>
    <p:sldId id="347" r:id="rId17"/>
    <p:sldId id="348" r:id="rId18"/>
    <p:sldId id="349" r:id="rId19"/>
    <p:sldId id="350" r:id="rId20"/>
    <p:sldId id="341" r:id="rId21"/>
  </p:sldIdLst>
  <p:sldSz cx="12192000" cy="6858000"/>
  <p:notesSz cx="6858000" cy="18764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4C1"/>
    <a:srgbClr val="002D5B"/>
    <a:srgbClr val="FFFAFC"/>
    <a:srgbClr val="349A46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CF111-4A77-46E3-A813-0F4F859388F7}" v="8" dt="2026-06-22T15:09:48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507" autoAdjust="0"/>
  </p:normalViewPr>
  <p:slideViewPr>
    <p:cSldViewPr snapToGrid="0">
      <p:cViewPr varScale="1">
        <p:scale>
          <a:sx n="76" d="100"/>
          <a:sy n="76" d="100"/>
        </p:scale>
        <p:origin x="18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Lyons" userId="25555755-1d4a-48ce-a94f-19bbc1292db7" providerId="ADAL" clId="{8173B903-8B5D-4ED9-A44B-3D2C17084DE1}"/>
    <pc:docChg chg="delSld modSld delMainMaster">
      <pc:chgData name="Jordan Lyons" userId="25555755-1d4a-48ce-a94f-19bbc1292db7" providerId="ADAL" clId="{8173B903-8B5D-4ED9-A44B-3D2C17084DE1}" dt="2026-06-22T15:09:48.907" v="8" actId="20577"/>
      <pc:docMkLst>
        <pc:docMk/>
      </pc:docMkLst>
      <pc:sldChg chg="del">
        <pc:chgData name="Jordan Lyons" userId="25555755-1d4a-48ce-a94f-19bbc1292db7" providerId="ADAL" clId="{8173B903-8B5D-4ED9-A44B-3D2C17084DE1}" dt="2026-06-22T14:50:45.376" v="0" actId="47"/>
        <pc:sldMkLst>
          <pc:docMk/>
          <pc:sldMk cId="1299458414" sldId="261"/>
        </pc:sldMkLst>
      </pc:sldChg>
      <pc:sldChg chg="modSp">
        <pc:chgData name="Jordan Lyons" userId="25555755-1d4a-48ce-a94f-19bbc1292db7" providerId="ADAL" clId="{8173B903-8B5D-4ED9-A44B-3D2C17084DE1}" dt="2026-06-22T15:09:48.907" v="8" actId="20577"/>
        <pc:sldMkLst>
          <pc:docMk/>
          <pc:sldMk cId="818374570" sldId="346"/>
        </pc:sldMkLst>
        <pc:spChg chg="mod">
          <ac:chgData name="Jordan Lyons" userId="25555755-1d4a-48ce-a94f-19bbc1292db7" providerId="ADAL" clId="{8173B903-8B5D-4ED9-A44B-3D2C17084DE1}" dt="2026-06-22T15:09:48.907" v="8" actId="20577"/>
          <ac:spMkLst>
            <pc:docMk/>
            <pc:sldMk cId="818374570" sldId="346"/>
            <ac:spMk id="5" creationId="{030ABAF1-C4D4-2477-8F2E-566670DC941D}"/>
          </ac:spMkLst>
        </pc:spChg>
      </pc:sldChg>
      <pc:sldMasterChg chg="del delSldLayout">
        <pc:chgData name="Jordan Lyons" userId="25555755-1d4a-48ce-a94f-19bbc1292db7" providerId="ADAL" clId="{8173B903-8B5D-4ED9-A44B-3D2C17084DE1}" dt="2026-06-22T14:50:45.376" v="0" actId="47"/>
        <pc:sldMasterMkLst>
          <pc:docMk/>
          <pc:sldMasterMk cId="1744177811" sldId="2147483666"/>
        </pc:sldMasterMkLst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2916264683" sldId="2147483667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745981281" sldId="2147483668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1871791800" sldId="2147483669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2540410836" sldId="2147483670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1347421916" sldId="2147483671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2968500737" sldId="2147483672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2571678643" sldId="2147483673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3234732652" sldId="2147483674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2830324385" sldId="2147483675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1587671720" sldId="2147483676"/>
          </pc:sldLayoutMkLst>
        </pc:sldLayoutChg>
        <pc:sldLayoutChg chg="del">
          <pc:chgData name="Jordan Lyons" userId="25555755-1d4a-48ce-a94f-19bbc1292db7" providerId="ADAL" clId="{8173B903-8B5D-4ED9-A44B-3D2C17084DE1}" dt="2026-06-22T14:50:45.376" v="0" actId="47"/>
          <pc:sldLayoutMkLst>
            <pc:docMk/>
            <pc:sldMasterMk cId="1744177811" sldId="2147483666"/>
            <pc:sldLayoutMk cId="1573811752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2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2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04C8F-5802-45D3-BF52-EFB476754B0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2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2" y="8685214"/>
            <a:ext cx="297180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89ED6-FB8C-4885-9FE0-C80AA566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1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3256E-5B71-4A00-9D19-4FA7E24E6E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35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03FB-A9CF-6A4E-7CCA-C80679D9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51762-B964-92A7-458F-93F29A281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B4DE7-D41E-12B7-4734-F6EF78635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8049A-FABD-E1E7-F619-82063B1E9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A10B-E69F-4731-87BD-11DF54FCED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9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EB28-F4F5-D0E2-0CD2-C6E1610C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4BAE8-976D-56A3-C403-C7FCB0C67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452AB-88F2-E412-D4D3-4D089F1C0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want to ensure we aren’t submitting or hiring people that aren’t who they say they are. This can cause us a lot of problems and even get us kicked off a client list or in legal trouble if we don’t do our due diligence. It will also help with our reputation with the marketplace.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want our clients to trust that the candidates we say we have vetted have actually been vetted! We have to build trust to have a good relationship.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will also help us save time and resources by finding these issues up front so we aren’t wasting our time on unqualified or dishonest candidates.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86FAA-54C7-4730-931E-33A6CD054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A10B-E69F-4731-87BD-11DF54FCED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8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DAFA-4C89-95EB-0B9D-081FBE1E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10319-9A56-EC50-1411-6A9E848DA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B11D8-CB6A-BE7B-1DB9-FA39A9DFD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5F53-FD55-C6F0-D182-DF29D3AAF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A10B-E69F-4731-87BD-11DF54FCED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49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B94D2-57FA-8945-EBD7-562BC8B2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7E419-4A9A-F935-7A89-AE45B2F04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32F85-849D-276F-0D54-8D0557D5A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8E40C-881A-D127-CCBB-60AA23C4F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412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510C-9E55-2A3D-ECCB-8AFD8437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E7F22-BB21-57FF-418C-2F74216E1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FB6AE-9D72-008A-AAD7-8FE899239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9775-FC98-748B-BB51-61184DE4F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A10B-E69F-4731-87BD-11DF54FCED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96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146B-9FEA-7823-1C62-6F628EDC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910F7-9FE1-320E-8D43-6A8BA2B77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099CD-A7AE-3380-E869-BD9CCDAA8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could you address these with the candidate?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6707B-409B-E00A-FC47-534106EF1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828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FA82-1879-9A2D-BED0-0AD3BCEB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F0877-D714-BA2D-BA07-99EDAF02F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29B9C-F45E-62F9-5EC8-FBE8D5AE8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4A94-1D2B-A4E0-0B2A-61C859FC7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A10B-E69F-4731-87BD-11DF54FCED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85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B7C1-F71D-0DC4-2071-EA2020E6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9D691-55A2-A694-7D9C-AAC323B4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67415-B209-5729-E441-0C2BF932E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D0811-2773-F376-67D6-52E589B34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504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89ED6-FB8C-4885-9FE0-C80AA566FC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37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DF40-CAA3-4B3B-AF1E-426875C6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C1967-BE45-A6BE-5F1F-B9B21D9B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CF57F-53E7-C48D-7958-E842CD3A8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A6D06-D220-24EF-EA6B-7495F2BBF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860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CE56-ECBC-5A2F-CA87-007790FC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B804B-4578-EC45-867F-59EB9D5A1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A6D93-7411-11F6-60B7-7F712DFC1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D07F1-8C9A-A7AE-F060-96B23C01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171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B94D2-57FA-8945-EBD7-562BC8B2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7E419-4A9A-F935-7A89-AE45B2F04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32F85-849D-276F-0D54-8D0557D5A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present for ongoing job/current role- monitor patient vitals, administer </a:t>
            </a:r>
            <a:r>
              <a:rPr lang="en-US" dirty="0" err="1"/>
              <a:t>mediciations</a:t>
            </a:r>
            <a:r>
              <a:rPr lang="en-US" dirty="0"/>
              <a:t> to post op patients</a:t>
            </a:r>
          </a:p>
          <a:p>
            <a:r>
              <a:rPr lang="en-US" dirty="0"/>
              <a:t>Use past tense for a job that is ended- assisted, collaborated</a:t>
            </a:r>
          </a:p>
          <a:p>
            <a:r>
              <a:rPr lang="en-US" dirty="0"/>
              <a:t>Don’t mix present and past tense in the same job unless: You’re describing ongoing duties (present) and completed accomplishments (past). Ex: provide direct care to 6+ patients per shift. Trained 3 new hires in proper charting procedures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8E40C-881A-D127-CCBB-60AA23C4F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48D4C-2B52-4FD5-B0E0-D9F4C8B42F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412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655955-4BA4-45C1-A4B3-5663B36AAC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40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AFBF-66FF-494C-BFBA-76E6EE5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ADC41-6497-4B87-8496-DDCE1E47F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7F3DD-6B2B-4C67-8971-8EEBFCB3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C8EAA-CF16-4D72-B9A7-97D79CD4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BE16A-88FF-467B-8B9E-32C42F07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845-2A1F-4FE5-AFA4-EE6732AC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129A-5C8B-47C3-BA64-F31B78CE6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AB8C0-24CE-466C-BA5E-10701934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FC8C-59BA-47E2-B4C4-5805BF7E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A310-E5F4-405B-BB22-EECFC732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8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6845-843A-4765-A322-D2D523B7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1BCE-F903-49D0-83EB-572DEFAA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CFB8-1726-43B6-87B4-F466DDF6F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4C820-2A4C-4567-BDB1-C4A10F261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11368-D7B0-40AB-AFA0-B33635FF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CF8E-3F0B-450F-851B-AC5D1EEB9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32257-2AA3-4592-9E0C-8C990C5B0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9FDC1-1D1F-4B54-B68A-694F202C4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A0C29-253A-4105-8F7B-9C162CBC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5FC0-AC0A-4DF9-8851-DB630614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C0DD3-0E6B-48B4-BF91-D831A212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41A8-40D7-472A-8DA0-6DE6C28B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3032F-6F30-4969-A9DC-0521CBB14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C86A0-F6E4-4070-91E3-957EE8A31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C55E-0154-4614-BCEB-A41B92D9E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68437-468A-471A-BABF-7DDA50EDE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3666D-B4BD-4BD7-98FF-BC10067C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FB9D5-BA4B-408D-91FA-57F4B01A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7F0AA-FA83-4F60-AF3C-9DCF55A1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0E68-A07F-48EA-95F4-EB35494F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CA813-490E-418B-A063-3EFF8801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15814-E8E0-4FB0-8BBC-27DB2853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27C88-BEFE-4A4A-A1F7-6B9E2530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0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AF30D-BA36-4AE0-8C94-205FFFFB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F9823-3243-4085-B907-4F391A91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72418-C265-4650-AC20-7239564C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4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D9C8-71E4-474A-9314-946F46AA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04162-3445-4F84-8E18-C90410B4F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30B4F-D7B0-4AD4-A8E3-D98F0B0BD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D4644-55CF-4BBD-80D7-642F8797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7DE4D-D29D-4B38-8E67-3BFF8B9B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43A83-6ECA-4E1A-9AD6-166CCA81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4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0158-6263-446C-8259-AF9BA707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DB2B9-BCE3-489D-8014-9464A2390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797F9-62D8-4315-935A-AAF8A6C78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AB0E9-2BC4-4C39-A0A3-1D629529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50AB0-6C8C-4137-A098-35A4E842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636D2-B51E-48FB-A620-D7BE043A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FDD8-9B0B-40E4-88CB-DF9D72CE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21652-9EB9-4D39-B929-9A823179F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4C04-738F-4A17-9DCF-8A583D75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B6994-162C-4B58-9F04-4E9DD2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6087-5E2B-4C9F-9289-1991EBCB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BC6E8-F570-4235-8EF8-92E86E0DB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31488-6424-4053-8802-59AFE57F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F7235-41DD-4C03-8A59-E3C9824A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EB3BE-F264-4537-A3B4-A21D14CA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701EF-6949-46E8-9B20-D0FDB859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10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E3C3475F-96ED-4FAC-90D3-826E4DEB69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1137625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4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FD0465AB-03AE-44EA-BBA7-06F19B739C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237565"/>
            <a:ext cx="1829276" cy="1828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64C1FCB3-2544-44A8-8E69-2AD20430F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519082"/>
            <a:ext cx="1829276" cy="1828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DF77CF4A-D9D6-4926-8063-DA245A1F08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4800599"/>
            <a:ext cx="1829276" cy="1828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85B0E1ED-3548-48ED-8FEE-A81ED9E664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819959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05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2D5DEF7-EF7F-4421-BAE6-60FF02BCB9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8822" y="0"/>
            <a:ext cx="2893178" cy="3429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F684D42-4234-4F61-AA7C-686AF930D7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98822" y="3429000"/>
            <a:ext cx="2893178" cy="3429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A429DEF-1F3D-46E0-A25E-8BD18E998D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2893178" cy="3429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2E00EEE-EDEF-40AA-A2E7-04F23CA120B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3429000"/>
            <a:ext cx="2893178" cy="3429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8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7F5BD2B6-30D3-472C-9987-F652CBF435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28928" y="0"/>
            <a:ext cx="6850818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78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901C4-0B77-EFC6-BE13-202D25C8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A7D2-70A4-442E-9AE1-393D6D26E09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84748-9AC1-8060-62C3-A2559B52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6BCAF-A405-0B36-8421-ECA37455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0EF5-3467-4952-814C-8279F3DD6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8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5E18-1C34-489E-956F-D9B0362487F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5F38-1039-461C-820B-C0C2B6E92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4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8C222-B7A4-4AF1-882F-9EC69CEE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41CA3-EBAE-4244-B91B-815F8720A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3080C-054A-45C1-917C-D0D9F53CD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AE11D-13A1-497C-B032-6447346D23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632EB-9541-46FF-8933-D006C4CC5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5789-BBBE-4E7B-A3DE-485A31E07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994B6-4A34-4144-8BDD-3FA6C53C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6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DD0F0-4652-475E-B7C8-5DE416CC9BC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EEE88-6D93-4BBD-8FBF-50B5959B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7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95E18-1C34-489E-956F-D9B0362487F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B5F38-1039-461C-820B-C0C2B6E92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336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://www.clipartpanda.com/categories/scissors-clipart-black-and-white" TargetMode="Externa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FC15A-9347-455D-A214-A10C97E4C8E8}"/>
              </a:ext>
            </a:extLst>
          </p:cNvPr>
          <p:cNvSpPr/>
          <p:nvPr/>
        </p:nvSpPr>
        <p:spPr>
          <a:xfrm>
            <a:off x="-2" y="5267148"/>
            <a:ext cx="12192002" cy="1590852"/>
          </a:xfrm>
          <a:prstGeom prst="rect">
            <a:avLst/>
          </a:prstGeom>
          <a:solidFill>
            <a:srgbClr val="349A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3F45C2-37CE-4A09-BF05-B5005C238669}"/>
              </a:ext>
            </a:extLst>
          </p:cNvPr>
          <p:cNvGrpSpPr/>
          <p:nvPr/>
        </p:nvGrpSpPr>
        <p:grpSpPr>
          <a:xfrm>
            <a:off x="-2" y="0"/>
            <a:ext cx="5836598" cy="5294199"/>
            <a:chOff x="-1" y="1947707"/>
            <a:chExt cx="4294909" cy="36898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A111B1-AAFF-4FEF-A341-F087245F58A7}"/>
                </a:ext>
              </a:extLst>
            </p:cNvPr>
            <p:cNvSpPr/>
            <p:nvPr/>
          </p:nvSpPr>
          <p:spPr>
            <a:xfrm>
              <a:off x="-1" y="1947707"/>
              <a:ext cx="2054399" cy="3689827"/>
            </a:xfrm>
            <a:prstGeom prst="rect">
              <a:avLst/>
            </a:prstGeom>
            <a:solidFill>
              <a:srgbClr val="002D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3C6BCB-742B-4F3B-B272-0C83DFFB9E7D}"/>
                </a:ext>
              </a:extLst>
            </p:cNvPr>
            <p:cNvSpPr/>
            <p:nvPr/>
          </p:nvSpPr>
          <p:spPr>
            <a:xfrm>
              <a:off x="1974719" y="1961237"/>
              <a:ext cx="2320189" cy="3676298"/>
            </a:xfrm>
            <a:prstGeom prst="rect">
              <a:avLst/>
            </a:prstGeom>
            <a:gradFill>
              <a:gsLst>
                <a:gs pos="0">
                  <a:srgbClr val="002D5B"/>
                </a:gs>
                <a:gs pos="100000">
                  <a:srgbClr val="002D5B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DCB4F3-A7E9-49D8-80E7-B0BE9C03B40D}"/>
              </a:ext>
            </a:extLst>
          </p:cNvPr>
          <p:cNvSpPr/>
          <p:nvPr/>
        </p:nvSpPr>
        <p:spPr>
          <a:xfrm>
            <a:off x="2365096" y="-13525"/>
            <a:ext cx="4033007" cy="5294198"/>
          </a:xfrm>
          <a:prstGeom prst="rect">
            <a:avLst/>
          </a:prstGeom>
          <a:solidFill>
            <a:srgbClr val="002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6813A6-6FBA-43E5-A94B-14C71AA51922}"/>
              </a:ext>
            </a:extLst>
          </p:cNvPr>
          <p:cNvSpPr txBox="1">
            <a:spLocks/>
          </p:cNvSpPr>
          <p:nvPr/>
        </p:nvSpPr>
        <p:spPr>
          <a:xfrm>
            <a:off x="826302" y="1672658"/>
            <a:ext cx="4862485" cy="2239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schemeClr val="bg1"/>
                </a:solidFill>
                <a:latin typeface="AlternateGothic2 BT"/>
              </a:rPr>
              <a:t>Candidate Red Flags, Vetting and Resume Formatting</a:t>
            </a:r>
            <a:endParaRPr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ternateGothic2 BT"/>
            </a:endParaRPr>
          </a:p>
        </p:txBody>
      </p:sp>
      <p:pic>
        <p:nvPicPr>
          <p:cNvPr id="2" name="Picture 2" descr="Premium Vector | A man holds a red flag in his hand and goes to protest">
            <a:extLst>
              <a:ext uri="{FF2B5EF4-FFF2-40B4-BE49-F238E27FC236}">
                <a16:creationId xmlns:a16="http://schemas.microsoft.com/office/drawing/2014/main" id="{1F400483-775F-754D-D08F-45A0D37E3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103" y="-27052"/>
            <a:ext cx="5793897" cy="528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70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C51A-BBE7-9701-A96F-396D8F85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17,600+ Archery Target Stock Illustrations, Royalty-Free ...">
            <a:extLst>
              <a:ext uri="{FF2B5EF4-FFF2-40B4-BE49-F238E27FC236}">
                <a16:creationId xmlns:a16="http://schemas.microsoft.com/office/drawing/2014/main" id="{C9399FAB-C429-B0F5-82AA-54CAEF58B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9" y="735703"/>
            <a:ext cx="3471544" cy="347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alendar Transparent Images - Free Download on Freepik">
            <a:extLst>
              <a:ext uri="{FF2B5EF4-FFF2-40B4-BE49-F238E27FC236}">
                <a16:creationId xmlns:a16="http://schemas.microsoft.com/office/drawing/2014/main" id="{2C5E25F0-4DC1-E56C-893F-5E8BDA05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057" y="2972599"/>
            <a:ext cx="2834958" cy="232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D4E64E2-19D7-73D4-3258-CC6AECBD16C8}"/>
              </a:ext>
            </a:extLst>
          </p:cNvPr>
          <p:cNvSpPr txBox="1">
            <a:spLocks/>
          </p:cNvSpPr>
          <p:nvPr/>
        </p:nvSpPr>
        <p:spPr>
          <a:xfrm>
            <a:off x="5113296" y="514589"/>
            <a:ext cx="6581071" cy="5828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u="sng" dirty="0">
                <a:solidFill>
                  <a:srgbClr val="002D5B"/>
                </a:solidFill>
                <a:latin typeface="-apple-system"/>
              </a:rPr>
              <a:t>Objectives For Today</a:t>
            </a:r>
            <a:endParaRPr lang="en-US" dirty="0">
              <a:solidFill>
                <a:srgbClr val="002D5B"/>
              </a:solidFill>
            </a:endParaRPr>
          </a:p>
          <a:p>
            <a:pPr algn="ctr"/>
            <a:r>
              <a:rPr lang="en-US" dirty="0">
                <a:solidFill>
                  <a:srgbClr val="002D5B"/>
                </a:solidFill>
              </a:rPr>
              <a:t>Learn what to look for in LinkedIn profiles and resumes that may indicate potential concerns.</a:t>
            </a:r>
          </a:p>
          <a:p>
            <a:pPr algn="ctr"/>
            <a:r>
              <a:rPr lang="en-US" dirty="0">
                <a:solidFill>
                  <a:srgbClr val="002D5B"/>
                </a:solidFill>
              </a:rPr>
              <a:t>Practice how to discuss these concerns effectively with candidates.</a:t>
            </a:r>
          </a:p>
          <a:p>
            <a:pPr algn="ctr"/>
            <a:r>
              <a:rPr lang="en-US" dirty="0">
                <a:solidFill>
                  <a:srgbClr val="002D5B"/>
                </a:solidFill>
              </a:rPr>
              <a:t>Develop the skills to ask targeted questions that uncover red flags.</a:t>
            </a:r>
          </a:p>
          <a:p>
            <a:pPr algn="ctr"/>
            <a:r>
              <a:rPr lang="en-US" dirty="0">
                <a:solidFill>
                  <a:srgbClr val="002D5B"/>
                </a:solidFill>
              </a:rPr>
              <a:t>Learn strategies to verify candidate authenticity and detect falsified information.</a:t>
            </a:r>
          </a:p>
          <a:p>
            <a:pPr algn="ctr"/>
            <a:r>
              <a:rPr lang="en-US" dirty="0">
                <a:solidFill>
                  <a:srgbClr val="002D5B"/>
                </a:solidFill>
              </a:rPr>
              <a:t>Understand how to prepare and format resumes professionally for submission.</a:t>
            </a:r>
          </a:p>
        </p:txBody>
      </p:sp>
    </p:spTree>
    <p:extLst>
      <p:ext uri="{BB962C8B-B14F-4D97-AF65-F5344CB8AC3E}">
        <p14:creationId xmlns:p14="http://schemas.microsoft.com/office/powerpoint/2010/main" val="331227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F1060-5D7B-BD7D-8F18-7FC5318F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801E7-A629-7397-E40A-1649F6C42191}"/>
              </a:ext>
            </a:extLst>
          </p:cNvPr>
          <p:cNvSpPr/>
          <p:nvPr/>
        </p:nvSpPr>
        <p:spPr>
          <a:xfrm>
            <a:off x="1292679" y="326567"/>
            <a:ext cx="9606641" cy="1159333"/>
          </a:xfrm>
          <a:prstGeom prst="rect">
            <a:avLst/>
          </a:prstGeom>
          <a:solidFill>
            <a:srgbClr val="002D5B"/>
          </a:solidFill>
          <a:ln w="7620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Why Is This So Important?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48A2F-9AD4-434D-398D-64E318210CCC}"/>
              </a:ext>
            </a:extLst>
          </p:cNvPr>
          <p:cNvSpPr txBox="1"/>
          <p:nvPr/>
        </p:nvSpPr>
        <p:spPr>
          <a:xfrm>
            <a:off x="1088572" y="171450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F801E9-B519-B0E7-3777-90929560C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r="8333"/>
          <a:stretch/>
        </p:blipFill>
        <p:spPr bwMode="auto">
          <a:xfrm>
            <a:off x="392172" y="2360831"/>
            <a:ext cx="3494027" cy="34940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6E7C48-394A-D271-3958-C82ACD97E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/>
        </p:blipFill>
        <p:spPr bwMode="auto">
          <a:xfrm>
            <a:off x="4348985" y="2360831"/>
            <a:ext cx="3494027" cy="34940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68BDA57-F7FE-6B6D-037B-4820CBD64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 bwMode="auto">
          <a:xfrm>
            <a:off x="8305801" y="2219317"/>
            <a:ext cx="3494027" cy="34940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41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DB6B-2107-C814-F16F-F2BC6558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F6F00-27EF-2E5D-47F6-03D7D17FE1FC}"/>
              </a:ext>
            </a:extLst>
          </p:cNvPr>
          <p:cNvSpPr/>
          <p:nvPr/>
        </p:nvSpPr>
        <p:spPr>
          <a:xfrm>
            <a:off x="1292679" y="326567"/>
            <a:ext cx="9606641" cy="1159333"/>
          </a:xfrm>
          <a:prstGeom prst="rect">
            <a:avLst/>
          </a:prstGeom>
          <a:solidFill>
            <a:srgbClr val="002D5B"/>
          </a:solidFill>
          <a:ln w="7620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What Might Be A Red Flag On LinkedIn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F6249-273C-5E25-E695-0231E2950D09}"/>
              </a:ext>
            </a:extLst>
          </p:cNvPr>
          <p:cNvSpPr txBox="1"/>
          <p:nvPr/>
        </p:nvSpPr>
        <p:spPr>
          <a:xfrm>
            <a:off x="1088572" y="171450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E47148-2941-0674-BC97-AC1954B65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8572" y="1829416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85A02D-DCAB-6C57-C511-3FDB953C2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01413" y="1829415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99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E7D7-D9B6-C334-083D-C3579762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30ABAF1-C4D4-2477-8F2E-566670DC941D}"/>
              </a:ext>
            </a:extLst>
          </p:cNvPr>
          <p:cNvSpPr/>
          <p:nvPr/>
        </p:nvSpPr>
        <p:spPr>
          <a:xfrm>
            <a:off x="116923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>
                <a:solidFill>
                  <a:srgbClr val="FFFAFC"/>
                </a:solidFill>
                <a:latin typeface="Sabon Next LT"/>
              </a:rPr>
              <a:t>Account </a:t>
            </a:r>
            <a:r>
              <a:rPr lang="en-US" sz="3200" noProof="0">
                <a:solidFill>
                  <a:srgbClr val="FFFAFC"/>
                </a:solidFill>
                <a:latin typeface="Sabon Next LT"/>
              </a:rPr>
              <a:t>Opened Recently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08826E-B53C-9F55-E4B6-5C99153F12A8}"/>
              </a:ext>
            </a:extLst>
          </p:cNvPr>
          <p:cNvSpPr/>
          <p:nvPr/>
        </p:nvSpPr>
        <p:spPr>
          <a:xfrm>
            <a:off x="2073742" y="330150"/>
            <a:ext cx="8457227" cy="975291"/>
          </a:xfrm>
          <a:prstGeom prst="rect">
            <a:avLst/>
          </a:prstGeom>
          <a:solidFill>
            <a:srgbClr val="002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DFAF6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LinkedIn Red Flags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854564-3F19-36F9-EA45-21388F77B437}"/>
              </a:ext>
            </a:extLst>
          </p:cNvPr>
          <p:cNvSpPr/>
          <p:nvPr/>
        </p:nvSpPr>
        <p:spPr>
          <a:xfrm>
            <a:off x="4512699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No Picture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F2BD84-4DA2-9012-E63E-C920DAA39992}"/>
              </a:ext>
            </a:extLst>
          </p:cNvPr>
          <p:cNvSpPr/>
          <p:nvPr/>
        </p:nvSpPr>
        <p:spPr>
          <a:xfrm>
            <a:off x="8908473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No Last Name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C19E49-5B55-3579-8F78-0678772E8F09}"/>
              </a:ext>
            </a:extLst>
          </p:cNvPr>
          <p:cNvSpPr/>
          <p:nvPr/>
        </p:nvSpPr>
        <p:spPr>
          <a:xfrm>
            <a:off x="2314811" y="3806818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AFC"/>
                </a:solidFill>
                <a:latin typeface="Sabon Next LT"/>
              </a:rPr>
              <a:t>Less Than 500 Connections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3A1F66-E1AF-8AC1-219D-8DCE35E20195}"/>
              </a:ext>
            </a:extLst>
          </p:cNvPr>
          <p:cNvSpPr/>
          <p:nvPr/>
        </p:nvSpPr>
        <p:spPr>
          <a:xfrm>
            <a:off x="6710585" y="3806818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No Experience Or Postings</a:t>
            </a:r>
          </a:p>
        </p:txBody>
      </p:sp>
    </p:spTree>
    <p:extLst>
      <p:ext uri="{BB962C8B-B14F-4D97-AF65-F5344CB8AC3E}">
        <p14:creationId xmlns:p14="http://schemas.microsoft.com/office/powerpoint/2010/main" val="81837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41A3-2B50-463F-F833-05817BBC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7B741-7583-AD61-52F4-C00C233A3449}"/>
              </a:ext>
            </a:extLst>
          </p:cNvPr>
          <p:cNvSpPr/>
          <p:nvPr/>
        </p:nvSpPr>
        <p:spPr>
          <a:xfrm>
            <a:off x="1292679" y="326567"/>
            <a:ext cx="9606641" cy="1159333"/>
          </a:xfrm>
          <a:prstGeom prst="rect">
            <a:avLst/>
          </a:prstGeom>
          <a:solidFill>
            <a:srgbClr val="002D5B"/>
          </a:solidFill>
          <a:ln w="7620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What Might Be A Red Flag On A Resume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557B4-3FB8-B29C-CF01-6C55C582372C}"/>
              </a:ext>
            </a:extLst>
          </p:cNvPr>
          <p:cNvSpPr txBox="1"/>
          <p:nvPr/>
        </p:nvSpPr>
        <p:spPr>
          <a:xfrm>
            <a:off x="1088572" y="171450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CE5558-6D68-E1A2-BCEF-2ABF5C85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8572" y="1829416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9F1A99-4A24-FBF6-47AD-238EC867F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01413" y="1829415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25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C92B-A4A2-FA2D-30B1-EA0ACA6F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72BE5A-8A4D-C768-B071-38F28FB4BDB8}"/>
              </a:ext>
            </a:extLst>
          </p:cNvPr>
          <p:cNvSpPr/>
          <p:nvPr/>
        </p:nvSpPr>
        <p:spPr>
          <a:xfrm>
            <a:off x="139782" y="1222497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Gaps In Employment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65C749-32D1-7CC8-36BD-CFC388810946}"/>
              </a:ext>
            </a:extLst>
          </p:cNvPr>
          <p:cNvSpPr/>
          <p:nvPr/>
        </p:nvSpPr>
        <p:spPr>
          <a:xfrm>
            <a:off x="1950452" y="187880"/>
            <a:ext cx="8291096" cy="823610"/>
          </a:xfrm>
          <a:prstGeom prst="rect">
            <a:avLst/>
          </a:prstGeom>
          <a:solidFill>
            <a:srgbClr val="3B84C1"/>
          </a:solidFill>
          <a:ln w="60325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DFAF6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Resume Red Flags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273119-E1F2-E93A-3B4C-7A5FC7280982}"/>
              </a:ext>
            </a:extLst>
          </p:cNvPr>
          <p:cNvSpPr/>
          <p:nvPr/>
        </p:nvSpPr>
        <p:spPr>
          <a:xfrm>
            <a:off x="3164956" y="1222497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Formatting, Grammatical, Spelling Errors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E60876-2D20-8CC0-383D-FBBC8CF5BAE5}"/>
              </a:ext>
            </a:extLst>
          </p:cNvPr>
          <p:cNvSpPr/>
          <p:nvPr/>
        </p:nvSpPr>
        <p:spPr>
          <a:xfrm>
            <a:off x="6190130" y="1222497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FFFAFC"/>
                </a:solidFill>
                <a:latin typeface="Sabon Next LT"/>
              </a:rPr>
              <a:t>Tenure Of Jobs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B4A601-FAE8-687C-A3B8-E96F381FDE2B}"/>
              </a:ext>
            </a:extLst>
          </p:cNvPr>
          <p:cNvSpPr/>
          <p:nvPr/>
        </p:nvSpPr>
        <p:spPr>
          <a:xfrm>
            <a:off x="9215304" y="1222497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FFFAFC"/>
                </a:solidFill>
                <a:latin typeface="Sabon Next LT"/>
              </a:rPr>
              <a:t>Legitimate Companies?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6C9092-2A33-8747-4527-ECBD4BD3071C}"/>
              </a:ext>
            </a:extLst>
          </p:cNvPr>
          <p:cNvSpPr/>
          <p:nvPr/>
        </p:nvSpPr>
        <p:spPr>
          <a:xfrm>
            <a:off x="1978602" y="3974303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Degree/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Graduation And Employment Alignment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B73FDE-C366-F204-6595-C21CF16F65BB}"/>
              </a:ext>
            </a:extLst>
          </p:cNvPr>
          <p:cNvSpPr/>
          <p:nvPr/>
        </p:nvSpPr>
        <p:spPr>
          <a:xfrm>
            <a:off x="5003776" y="3918314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Mismatched Job Level Or Odd Career Progression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DD9E5D-56DC-EE20-24EC-924FFDDC660C}"/>
              </a:ext>
            </a:extLst>
          </p:cNvPr>
          <p:cNvSpPr/>
          <p:nvPr/>
        </p:nvSpPr>
        <p:spPr>
          <a:xfrm>
            <a:off x="8028950" y="3918314"/>
            <a:ext cx="2870957" cy="2751806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Generic List Of Technologies Or Overused Buzzwords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2376F3-F2B6-753B-908C-82EAEFDAB2D6}"/>
              </a:ext>
            </a:extLst>
          </p:cNvPr>
          <p:cNvSpPr/>
          <p:nvPr/>
        </p:nvSpPr>
        <p:spPr>
          <a:xfrm>
            <a:off x="139781" y="1222497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Tell me about…I noticed a gap in… can you share what you were doing…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6A55EA-563C-DE5F-F1C2-4093E2CEFC8B}"/>
              </a:ext>
            </a:extLst>
          </p:cNvPr>
          <p:cNvSpPr/>
          <p:nvPr/>
        </p:nvSpPr>
        <p:spPr>
          <a:xfrm>
            <a:off x="3164955" y="1222497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Offer your assistance and expertise vs criticism.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23D96D-1A17-F176-F777-A475EB2E1760}"/>
              </a:ext>
            </a:extLst>
          </p:cNvPr>
          <p:cNvSpPr/>
          <p:nvPr/>
        </p:nvSpPr>
        <p:spPr>
          <a:xfrm>
            <a:off x="6190130" y="1257133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Can you tell me about the transitions between roles and what prompted them?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C9758F-699A-F11F-43B6-37965F33875B}"/>
              </a:ext>
            </a:extLst>
          </p:cNvPr>
          <p:cNvSpPr/>
          <p:nvPr/>
        </p:nvSpPr>
        <p:spPr>
          <a:xfrm>
            <a:off x="9181261" y="1222497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Address directly: Tell me about company XYZ and what they do…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88F3D3-D255-D740-C1ED-C698BE8AF282}"/>
              </a:ext>
            </a:extLst>
          </p:cNvPr>
          <p:cNvSpPr/>
          <p:nvPr/>
        </p:nvSpPr>
        <p:spPr>
          <a:xfrm>
            <a:off x="1950452" y="3946309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FFFAFC"/>
                </a:solidFill>
                <a:latin typeface="Sabon Next LT"/>
              </a:rPr>
              <a:t>I noticed there was a gap between graduation and working… can you tell me more?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FF91F0-047B-3C9F-3EC7-1CDADB52B2B2}"/>
              </a:ext>
            </a:extLst>
          </p:cNvPr>
          <p:cNvSpPr/>
          <p:nvPr/>
        </p:nvSpPr>
        <p:spPr>
          <a:xfrm>
            <a:off x="4969733" y="3883678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AFC"/>
                </a:solidFill>
                <a:latin typeface="Sabon Next LT"/>
              </a:rPr>
              <a:t>Dig in: I see you went from a lead role to an individual… tell me more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3720A3-CB5B-1708-5F73-F77F82B8F303}"/>
              </a:ext>
            </a:extLst>
          </p:cNvPr>
          <p:cNvSpPr/>
          <p:nvPr/>
        </p:nvSpPr>
        <p:spPr>
          <a:xfrm>
            <a:off x="8028950" y="3883678"/>
            <a:ext cx="2870957" cy="2751806"/>
          </a:xfrm>
          <a:prstGeom prst="ellipse">
            <a:avLst/>
          </a:prstGeom>
          <a:solidFill>
            <a:srgbClr val="002D5B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noProof="0" dirty="0">
                <a:solidFill>
                  <a:srgbClr val="FFFAFC"/>
                </a:solidFill>
                <a:latin typeface="Sabon Next LT"/>
              </a:rPr>
              <a:t>Can you walk me through a project where you used *insert tech*? What was your role?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252415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2867-B547-5358-2EF3-4FAD1F56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D8DA76-3E06-D171-E83A-095D20023F56}"/>
              </a:ext>
            </a:extLst>
          </p:cNvPr>
          <p:cNvSpPr/>
          <p:nvPr/>
        </p:nvSpPr>
        <p:spPr>
          <a:xfrm>
            <a:off x="1292679" y="326567"/>
            <a:ext cx="9606641" cy="1159333"/>
          </a:xfrm>
          <a:prstGeom prst="rect">
            <a:avLst/>
          </a:prstGeom>
          <a:solidFill>
            <a:srgbClr val="002D5B"/>
          </a:solidFill>
          <a:ln w="7620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What Might Be A Red Flag In A Convo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CDEFD-51AB-545D-09B8-B3BD0A23AF5A}"/>
              </a:ext>
            </a:extLst>
          </p:cNvPr>
          <p:cNvSpPr txBox="1"/>
          <p:nvPr/>
        </p:nvSpPr>
        <p:spPr>
          <a:xfrm>
            <a:off x="1088572" y="171450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605737-509C-FAF5-F516-5284393F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8572" y="1829416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3A7840-CD27-328E-A5BF-03DA519A6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r="14497"/>
          <a:stretch/>
        </p:blipFill>
        <p:spPr bwMode="auto">
          <a:xfrm>
            <a:off x="6401413" y="1829415"/>
            <a:ext cx="4702017" cy="47020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48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365C-758D-10B3-0A6F-818A35014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9D98385-B675-1FAD-B71F-91A24C08DA2E}"/>
              </a:ext>
            </a:extLst>
          </p:cNvPr>
          <p:cNvSpPr/>
          <p:nvPr/>
        </p:nvSpPr>
        <p:spPr>
          <a:xfrm>
            <a:off x="116923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Can’t explain their experience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AE927-54E9-BBF2-0899-23F5802A8799}"/>
              </a:ext>
            </a:extLst>
          </p:cNvPr>
          <p:cNvSpPr/>
          <p:nvPr/>
        </p:nvSpPr>
        <p:spPr>
          <a:xfrm>
            <a:off x="2073742" y="330150"/>
            <a:ext cx="8457227" cy="975291"/>
          </a:xfrm>
          <a:prstGeom prst="rect">
            <a:avLst/>
          </a:prstGeom>
          <a:solidFill>
            <a:srgbClr val="002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DFAF6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Conversation Red Flags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549693-E1FB-693B-74D9-04C28893DC21}"/>
              </a:ext>
            </a:extLst>
          </p:cNvPr>
          <p:cNvSpPr/>
          <p:nvPr/>
        </p:nvSpPr>
        <p:spPr>
          <a:xfrm>
            <a:off x="4512699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Defensive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F0BD65-8E96-7629-888A-AEBB9978F47F}"/>
              </a:ext>
            </a:extLst>
          </p:cNvPr>
          <p:cNvSpPr/>
          <p:nvPr/>
        </p:nvSpPr>
        <p:spPr>
          <a:xfrm>
            <a:off x="8908473" y="1477100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Passively Looking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C3A5CF-67BE-B88C-C0F8-5D249B197225}"/>
              </a:ext>
            </a:extLst>
          </p:cNvPr>
          <p:cNvSpPr/>
          <p:nvPr/>
        </p:nvSpPr>
        <p:spPr>
          <a:xfrm>
            <a:off x="2314811" y="3806818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FFFAFC"/>
                </a:solidFill>
                <a:latin typeface="Sabon Next LT"/>
              </a:rPr>
              <a:t>Won’t Provide References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C8D8C6-43F2-00BA-6F2C-FB96F7A7F108}"/>
              </a:ext>
            </a:extLst>
          </p:cNvPr>
          <p:cNvSpPr/>
          <p:nvPr/>
        </p:nvSpPr>
        <p:spPr>
          <a:xfrm>
            <a:off x="6710585" y="3806818"/>
            <a:ext cx="3166604" cy="2954200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Hesitant About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 Background Or Technical Checks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76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571900-A01D-45D1-AF96-5F215D236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7501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373339-9E77-4377-92A0-7B56E617D0DB}"/>
              </a:ext>
            </a:extLst>
          </p:cNvPr>
          <p:cNvSpPr txBox="1"/>
          <p:nvPr/>
        </p:nvSpPr>
        <p:spPr>
          <a:xfrm>
            <a:off x="1238323" y="422450"/>
            <a:ext cx="97153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Common Theme For Addressing Red Flags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FD73E-A9BC-55E7-2AB9-7CAF8E46FA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38" b="2877"/>
          <a:stretch/>
        </p:blipFill>
        <p:spPr>
          <a:xfrm>
            <a:off x="3545222" y="1614341"/>
            <a:ext cx="5626488" cy="52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0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BECE-503D-3C90-CFEF-7DEF17422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7A402D4-F392-C2D2-F2AA-AD63485D14CE}"/>
              </a:ext>
            </a:extLst>
          </p:cNvPr>
          <p:cNvSpPr/>
          <p:nvPr/>
        </p:nvSpPr>
        <p:spPr>
          <a:xfrm>
            <a:off x="116923" y="1898073"/>
            <a:ext cx="3827737" cy="3823853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Verify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 Their LinkedIn Matches Their Resume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6F0998-704B-3E57-DCC1-755E6C378D00}"/>
              </a:ext>
            </a:extLst>
          </p:cNvPr>
          <p:cNvSpPr/>
          <p:nvPr/>
        </p:nvSpPr>
        <p:spPr>
          <a:xfrm>
            <a:off x="2073742" y="330150"/>
            <a:ext cx="8457227" cy="975291"/>
          </a:xfrm>
          <a:prstGeom prst="rect">
            <a:avLst/>
          </a:prstGeom>
          <a:solidFill>
            <a:srgbClr val="002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srgbClr val="FDFAF6"/>
                </a:solidFill>
                <a:latin typeface="Sabon Next LT"/>
              </a:rPr>
              <a:t>Internal Process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DFAF6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48C3FB-5084-5C73-FCC8-88B8A40C06BB}"/>
              </a:ext>
            </a:extLst>
          </p:cNvPr>
          <p:cNvSpPr/>
          <p:nvPr/>
        </p:nvSpPr>
        <p:spPr>
          <a:xfrm>
            <a:off x="4182131" y="1898072"/>
            <a:ext cx="3827737" cy="3823853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FFFAFC"/>
                </a:solidFill>
                <a:latin typeface="Sabon Next LT"/>
              </a:rPr>
              <a:t>Look For Red Flags On LinkedIn and Resume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3C948A-6034-A9A0-0645-8C03549E44DD}"/>
              </a:ext>
            </a:extLst>
          </p:cNvPr>
          <p:cNvSpPr/>
          <p:nvPr/>
        </p:nvSpPr>
        <p:spPr>
          <a:xfrm>
            <a:off x="8247340" y="1984244"/>
            <a:ext cx="3827737" cy="3823852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Verify References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0475F1C-B664-F47E-CC35-4C81E9BE8E4A}"/>
              </a:ext>
            </a:extLst>
          </p:cNvPr>
          <p:cNvSpPr/>
          <p:nvPr/>
        </p:nvSpPr>
        <p:spPr>
          <a:xfrm>
            <a:off x="3426086" y="3408216"/>
            <a:ext cx="1274618" cy="803563"/>
          </a:xfrm>
          <a:prstGeom prst="rightArrow">
            <a:avLst/>
          </a:prstGeom>
          <a:solidFill>
            <a:srgbClr val="3B8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5FCB055-738E-989C-1478-14F649A26401}"/>
              </a:ext>
            </a:extLst>
          </p:cNvPr>
          <p:cNvSpPr/>
          <p:nvPr/>
        </p:nvSpPr>
        <p:spPr>
          <a:xfrm>
            <a:off x="7610030" y="3408216"/>
            <a:ext cx="1274618" cy="803563"/>
          </a:xfrm>
          <a:prstGeom prst="rightArrow">
            <a:avLst/>
          </a:prstGeom>
          <a:solidFill>
            <a:srgbClr val="3B8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3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2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7339-B1E3-F039-9A14-2489E539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AEF8EBC-B885-1E6B-7F1E-BC4416A94A89}"/>
              </a:ext>
            </a:extLst>
          </p:cNvPr>
          <p:cNvSpPr/>
          <p:nvPr/>
        </p:nvSpPr>
        <p:spPr>
          <a:xfrm>
            <a:off x="116924" y="1898073"/>
            <a:ext cx="3827736" cy="4045527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Make Sure They Are Managers (Not Peers, Friends, etc.)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377460-6B07-66DD-78DE-2E97BB1F2470}"/>
              </a:ext>
            </a:extLst>
          </p:cNvPr>
          <p:cNvSpPr/>
          <p:nvPr/>
        </p:nvSpPr>
        <p:spPr>
          <a:xfrm>
            <a:off x="2073742" y="330150"/>
            <a:ext cx="8457227" cy="975291"/>
          </a:xfrm>
          <a:prstGeom prst="rect">
            <a:avLst/>
          </a:prstGeom>
          <a:solidFill>
            <a:srgbClr val="002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srgbClr val="FDFAF6"/>
                </a:solidFill>
                <a:latin typeface="Sabon Next LT"/>
              </a:rPr>
              <a:t>How To Verify References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DFAF6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B2809F-83FA-849F-FBB8-799DE0A806BC}"/>
              </a:ext>
            </a:extLst>
          </p:cNvPr>
          <p:cNvSpPr/>
          <p:nvPr/>
        </p:nvSpPr>
        <p:spPr>
          <a:xfrm>
            <a:off x="4182131" y="1898072"/>
            <a:ext cx="3827737" cy="4045527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3200" dirty="0">
                <a:solidFill>
                  <a:srgbClr val="FFFAFC"/>
                </a:solidFill>
                <a:latin typeface="Sabon Next LT"/>
              </a:rPr>
              <a:t>Make Sure They Gave You Work Email Addresses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DA165E-4764-C04F-C8D5-57122315C39B}"/>
              </a:ext>
            </a:extLst>
          </p:cNvPr>
          <p:cNvSpPr/>
          <p:nvPr/>
        </p:nvSpPr>
        <p:spPr>
          <a:xfrm>
            <a:off x="8247340" y="1984243"/>
            <a:ext cx="3827737" cy="3959355"/>
          </a:xfrm>
          <a:prstGeom prst="ellipse">
            <a:avLst/>
          </a:prstGeom>
          <a:solidFill>
            <a:srgbClr val="349A46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Verify Reference Exists On LinkedIn With Same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Job</a:t>
            </a:r>
            <a:r>
              <a:rPr kumimoji="0" lang="en-US" sz="3200" b="0" i="0" u="none" strike="noStrike" kern="1200" cap="none" spc="0" normalizeH="0" noProof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 And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No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Red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 Flags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AFC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60F919E-CE2D-EB19-6D8B-6721D2D1B95F}"/>
              </a:ext>
            </a:extLst>
          </p:cNvPr>
          <p:cNvSpPr/>
          <p:nvPr/>
        </p:nvSpPr>
        <p:spPr>
          <a:xfrm>
            <a:off x="3426086" y="3408216"/>
            <a:ext cx="1274618" cy="803563"/>
          </a:xfrm>
          <a:prstGeom prst="rightArrow">
            <a:avLst/>
          </a:prstGeom>
          <a:solidFill>
            <a:srgbClr val="3B8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855AED5-0484-D798-B4C5-B4092A3C538C}"/>
              </a:ext>
            </a:extLst>
          </p:cNvPr>
          <p:cNvSpPr/>
          <p:nvPr/>
        </p:nvSpPr>
        <p:spPr>
          <a:xfrm>
            <a:off x="7610030" y="3408216"/>
            <a:ext cx="1274618" cy="803563"/>
          </a:xfrm>
          <a:prstGeom prst="rightArrow">
            <a:avLst/>
          </a:prstGeom>
          <a:solidFill>
            <a:srgbClr val="3B8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2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E7D7-D9B6-C334-083D-C3579762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30ABAF1-C4D4-2477-8F2E-566670DC941D}"/>
              </a:ext>
            </a:extLst>
          </p:cNvPr>
          <p:cNvSpPr/>
          <p:nvPr/>
        </p:nvSpPr>
        <p:spPr>
          <a:xfrm>
            <a:off x="116923" y="1477100"/>
            <a:ext cx="3166604" cy="2954200"/>
          </a:xfrm>
          <a:prstGeom prst="ellipse">
            <a:avLst/>
          </a:prstGeom>
          <a:solidFill>
            <a:srgbClr val="3B84C1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What Tense To Use?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08826E-B53C-9F55-E4B6-5C99153F12A8}"/>
              </a:ext>
            </a:extLst>
          </p:cNvPr>
          <p:cNvSpPr/>
          <p:nvPr/>
        </p:nvSpPr>
        <p:spPr>
          <a:xfrm>
            <a:off x="2073742" y="330150"/>
            <a:ext cx="8457227" cy="975291"/>
          </a:xfrm>
          <a:prstGeom prst="rect">
            <a:avLst/>
          </a:prstGeom>
          <a:solidFill>
            <a:srgbClr val="002D5B"/>
          </a:solidFill>
          <a:ln w="571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DFAF6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Formatting Best Practices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854564-3F19-36F9-EA45-21388F77B437}"/>
              </a:ext>
            </a:extLst>
          </p:cNvPr>
          <p:cNvSpPr/>
          <p:nvPr/>
        </p:nvSpPr>
        <p:spPr>
          <a:xfrm>
            <a:off x="4512699" y="1477100"/>
            <a:ext cx="3166604" cy="2954200"/>
          </a:xfrm>
          <a:prstGeom prst="ellipse">
            <a:avLst/>
          </a:prstGeom>
          <a:solidFill>
            <a:srgbClr val="3B84C1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Make Sure The Dates Line Up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F2BD84-4DA2-9012-E63E-C920DAA39992}"/>
              </a:ext>
            </a:extLst>
          </p:cNvPr>
          <p:cNvSpPr/>
          <p:nvPr/>
        </p:nvSpPr>
        <p:spPr>
          <a:xfrm>
            <a:off x="8908473" y="1477100"/>
            <a:ext cx="3166604" cy="2954200"/>
          </a:xfrm>
          <a:prstGeom prst="ellipse">
            <a:avLst/>
          </a:prstGeom>
          <a:solidFill>
            <a:srgbClr val="3B84C1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Clean Lines And Bullets Aligned Page To Page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C19E49-5B55-3579-8F78-0678772E8F09}"/>
              </a:ext>
            </a:extLst>
          </p:cNvPr>
          <p:cNvSpPr/>
          <p:nvPr/>
        </p:nvSpPr>
        <p:spPr>
          <a:xfrm>
            <a:off x="2314811" y="3806818"/>
            <a:ext cx="3166604" cy="2954200"/>
          </a:xfrm>
          <a:prstGeom prst="ellipse">
            <a:avLst/>
          </a:prstGeom>
          <a:solidFill>
            <a:srgbClr val="3B84C1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Don’t Make Margins Smaller To Fit More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3A1F66-E1AF-8AC1-219D-8DCE35E20195}"/>
              </a:ext>
            </a:extLst>
          </p:cNvPr>
          <p:cNvSpPr/>
          <p:nvPr/>
        </p:nvSpPr>
        <p:spPr>
          <a:xfrm>
            <a:off x="6710585" y="3806818"/>
            <a:ext cx="3166604" cy="2954200"/>
          </a:xfrm>
          <a:prstGeom prst="ellipse">
            <a:avLst/>
          </a:prstGeom>
          <a:solidFill>
            <a:srgbClr val="3B84C1"/>
          </a:solidFill>
          <a:ln w="44450">
            <a:solidFill>
              <a:srgbClr val="002D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AFC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Roles Should Be In Reverse Chronological Order</a:t>
            </a:r>
          </a:p>
        </p:txBody>
      </p:sp>
    </p:spTree>
    <p:extLst>
      <p:ext uri="{BB962C8B-B14F-4D97-AF65-F5344CB8AC3E}">
        <p14:creationId xmlns:p14="http://schemas.microsoft.com/office/powerpoint/2010/main" val="336839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9292-C06B-4FB2-8983-6A23D201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46" y="917269"/>
            <a:ext cx="4420385" cy="134461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cs typeface="Calibri"/>
              </a:rPr>
              <a:t>Editing A</a:t>
            </a:r>
            <a:br>
              <a:rPr lang="en-US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dirty="0">
                <a:solidFill>
                  <a:schemeClr val="bg1"/>
                </a:solidFill>
                <a:latin typeface="Calibri"/>
                <a:cs typeface="Calibri"/>
              </a:rPr>
              <a:t>Resume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A71DB4-C364-4777-9B59-48D17FC11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2859" y="642740"/>
            <a:ext cx="5817476" cy="5906916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2D5B"/>
                </a:solidFill>
              </a:rPr>
              <a:t>Do it the right way</a:t>
            </a:r>
          </a:p>
          <a:p>
            <a:r>
              <a:rPr lang="en-US" sz="2400" dirty="0">
                <a:solidFill>
                  <a:srgbClr val="002D5B"/>
                </a:solidFill>
              </a:rPr>
              <a:t>Get rid of/ shorten the technical or professional summary (this is often duplicated in the description of each position anyway)</a:t>
            </a:r>
          </a:p>
          <a:p>
            <a:r>
              <a:rPr lang="en-US" sz="2400" dirty="0">
                <a:solidFill>
                  <a:srgbClr val="002D5B"/>
                </a:solidFill>
              </a:rPr>
              <a:t>Take out company descriptions</a:t>
            </a:r>
          </a:p>
          <a:p>
            <a:r>
              <a:rPr lang="en-US" sz="2400" dirty="0">
                <a:solidFill>
                  <a:srgbClr val="002D5B"/>
                </a:solidFill>
              </a:rPr>
              <a:t>If positions are more than 10 years old, cut down those descriptions (or remove them completely, but keep company, position, and dates)</a:t>
            </a:r>
          </a:p>
          <a:p>
            <a:r>
              <a:rPr lang="en-US" sz="2400" dirty="0">
                <a:solidFill>
                  <a:srgbClr val="002D5B"/>
                </a:solidFill>
              </a:rPr>
              <a:t>Limit excess spacing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CC3A3-1246-40FE-A4DC-A7335DEE9FA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10098516">
            <a:off x="669072" y="2483989"/>
            <a:ext cx="5455006" cy="301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6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fferent colored question marks">
            <a:extLst>
              <a:ext uri="{FF2B5EF4-FFF2-40B4-BE49-F238E27FC236}">
                <a16:creationId xmlns:a16="http://schemas.microsoft.com/office/drawing/2014/main" id="{9C391B86-08DD-E67F-4ED1-A2030376A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" y="0"/>
            <a:ext cx="12191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2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1">
      <a:dk1>
        <a:srgbClr val="002B4B"/>
      </a:dk1>
      <a:lt1>
        <a:srgbClr val="FFFAFC"/>
      </a:lt1>
      <a:dk2>
        <a:srgbClr val="002B4B"/>
      </a:dk2>
      <a:lt2>
        <a:srgbClr val="E7E6E6"/>
      </a:lt2>
      <a:accent1>
        <a:srgbClr val="349A46"/>
      </a:accent1>
      <a:accent2>
        <a:srgbClr val="C3EBCA"/>
      </a:accent2>
      <a:accent3>
        <a:srgbClr val="A3D8FF"/>
      </a:accent3>
      <a:accent4>
        <a:srgbClr val="349A46"/>
      </a:accent4>
      <a:accent5>
        <a:srgbClr val="002B4B"/>
      </a:accent5>
      <a:accent6>
        <a:srgbClr val="349A46"/>
      </a:accent6>
      <a:hlink>
        <a:srgbClr val="002B4B"/>
      </a:hlink>
      <a:folHlink>
        <a:srgbClr val="002B4B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Custom 8">
      <a:dk1>
        <a:srgbClr val="FFFFFF"/>
      </a:dk1>
      <a:lt1>
        <a:srgbClr val="002D5B"/>
      </a:lt1>
      <a:dk2>
        <a:srgbClr val="347DB9"/>
      </a:dk2>
      <a:lt2>
        <a:srgbClr val="002D5B"/>
      </a:lt2>
      <a:accent1>
        <a:srgbClr val="002D5B"/>
      </a:accent1>
      <a:accent2>
        <a:srgbClr val="002D5B"/>
      </a:accent2>
      <a:accent3>
        <a:srgbClr val="347DB9"/>
      </a:accent3>
      <a:accent4>
        <a:srgbClr val="349A46"/>
      </a:accent4>
      <a:accent5>
        <a:srgbClr val="FFFFFF"/>
      </a:accent5>
      <a:accent6>
        <a:srgbClr val="FFFFFF"/>
      </a:accent6>
      <a:hlink>
        <a:srgbClr val="349A46"/>
      </a:hlink>
      <a:folHlink>
        <a:srgbClr val="FF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rainingDocumentType xmlns="f08bd697-cae9-4d01-9608-1b1b795739b3">book of businesses</TrainingDocumentTyp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5972326A88CC43954F7DDFA7574A6D" ma:contentTypeVersion="17" ma:contentTypeDescription="Create a new document." ma:contentTypeScope="" ma:versionID="248ae3697b2cdd8d97c55d66c5609bfc">
  <xsd:schema xmlns:xsd="http://www.w3.org/2001/XMLSchema" xmlns:xs="http://www.w3.org/2001/XMLSchema" xmlns:p="http://schemas.microsoft.com/office/2006/metadata/properties" xmlns:ns2="f08bd697-cae9-4d01-9608-1b1b795739b3" xmlns:ns3="95cb4f33-42e9-48b9-aa39-29430486bf92" targetNamespace="http://schemas.microsoft.com/office/2006/metadata/properties" ma:root="true" ma:fieldsID="e9cd56617f5fae5db90a8c6d0dc8e44b" ns2:_="" ns3:_="">
    <xsd:import namespace="f08bd697-cae9-4d01-9608-1b1b795739b3"/>
    <xsd:import namespace="95cb4f33-42e9-48b9-aa39-29430486bf92"/>
    <xsd:element name="properties">
      <xsd:complexType>
        <xsd:sequence>
          <xsd:element name="documentManagement">
            <xsd:complexType>
              <xsd:all>
                <xsd:element ref="ns2:TrainingDocumentTyp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bd697-cae9-4d01-9608-1b1b795739b3" elementFormDefault="qualified">
    <xsd:import namespace="http://schemas.microsoft.com/office/2006/documentManagement/types"/>
    <xsd:import namespace="http://schemas.microsoft.com/office/infopath/2007/PartnerControls"/>
    <xsd:element name="TrainingDocumentType" ma:index="8" nillable="true" ma:displayName="TrainingDocumentType" ma:format="Dropdown" ma:internalName="TrainingDocumentType">
      <xsd:simpleType>
        <xsd:restriction base="dms:Choice">
          <xsd:enumeration value="book of businesses"/>
          <xsd:enumeration value="financial training"/>
          <xsd:enumeration value="manuals"/>
          <xsd:enumeration value="process training"/>
          <xsd:enumeration value="sales training"/>
          <xsd:enumeration value="technology training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b4f33-42e9-48b9-aa39-29430486bf92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232C0C-2646-4A81-A0D2-2C996D2B475D}">
  <ds:schemaRefs>
    <ds:schemaRef ds:uri="95cb4f33-42e9-48b9-aa39-29430486bf92"/>
    <ds:schemaRef ds:uri="f08bd697-cae9-4d01-9608-1b1b795739b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D7D4FE-9F8F-4010-A2CC-9EB386258229}">
  <ds:schemaRefs>
    <ds:schemaRef ds:uri="95cb4f33-42e9-48b9-aa39-29430486bf92"/>
    <ds:schemaRef ds:uri="f08bd697-cae9-4d01-9608-1b1b795739b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524B6DE-6E96-4AE6-B8A5-DCD429C25A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663</Words>
  <Application>Microsoft Office PowerPoint</Application>
  <PresentationFormat>Widescreen</PresentationFormat>
  <Paragraphs>83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AlternateGothic2 BT</vt:lpstr>
      <vt:lpstr>-apple-system</vt:lpstr>
      <vt:lpstr>Arial</vt:lpstr>
      <vt:lpstr>Calibri</vt:lpstr>
      <vt:lpstr>Calibri Light</vt:lpstr>
      <vt:lpstr>Sabon Next LT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Editing A Resume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Zych</dc:creator>
  <cp:lastModifiedBy>Jordan Lyons</cp:lastModifiedBy>
  <cp:revision>3</cp:revision>
  <dcterms:created xsi:type="dcterms:W3CDTF">2020-05-18T21:08:13Z</dcterms:created>
  <dcterms:modified xsi:type="dcterms:W3CDTF">2026-06-22T15:09:50Z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0x010100F55972326A88CC43954F7DDFA7574A6D</vt:lpwstr>
  </property>
</Properties>
</file>